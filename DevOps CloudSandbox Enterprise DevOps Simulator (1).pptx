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ading Now 71-78" charset="1" panose="00000000000000000000"/>
      <p:regular r:id="rId20"/>
    </p:embeddedFont>
    <p:embeddedFont>
      <p:font typeface="TT Firs Neue Bold" charset="1" panose="02000803030000020004"/>
      <p:regular r:id="rId21"/>
    </p:embeddedFont>
    <p:embeddedFont>
      <p:font typeface="TT Firs Neue" charset="1" panose="02000503030000020004"/>
      <p:regular r:id="rId22"/>
    </p:embeddedFont>
    <p:embeddedFont>
      <p:font typeface="Poppins Medium" charset="1" panose="000006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5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6.pn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16687">
            <a:off x="6070112" y="-940339"/>
            <a:ext cx="3086100" cy="12167677"/>
            <a:chOff x="0" y="0"/>
            <a:chExt cx="736600" cy="29042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942" y="0"/>
              <a:ext cx="730716" cy="2904219"/>
            </a:xfrm>
            <a:custGeom>
              <a:avLst/>
              <a:gdLst/>
              <a:ahLst/>
              <a:cxnLst/>
              <a:rect r="r" b="b" t="t" l="l"/>
              <a:pathLst>
                <a:path h="2904219" w="730716">
                  <a:moveTo>
                    <a:pt x="265894" y="0"/>
                  </a:moveTo>
                  <a:lnTo>
                    <a:pt x="695009" y="0"/>
                  </a:lnTo>
                  <a:cubicBezTo>
                    <a:pt x="704970" y="0"/>
                    <a:pt x="714477" y="4160"/>
                    <a:pt x="721236" y="11476"/>
                  </a:cubicBezTo>
                  <a:cubicBezTo>
                    <a:pt x="727995" y="18792"/>
                    <a:pt x="731391" y="28599"/>
                    <a:pt x="730604" y="38528"/>
                  </a:cubicBezTo>
                  <a:lnTo>
                    <a:pt x="506524" y="2865691"/>
                  </a:lnTo>
                  <a:cubicBezTo>
                    <a:pt x="504800" y="2887445"/>
                    <a:pt x="486644" y="2904219"/>
                    <a:pt x="464822" y="2904219"/>
                  </a:cubicBezTo>
                  <a:lnTo>
                    <a:pt x="35707" y="2904219"/>
                  </a:lnTo>
                  <a:cubicBezTo>
                    <a:pt x="25746" y="2904219"/>
                    <a:pt x="16239" y="2900059"/>
                    <a:pt x="9480" y="2892743"/>
                  </a:cubicBezTo>
                  <a:cubicBezTo>
                    <a:pt x="2721" y="2885427"/>
                    <a:pt x="-675" y="2875620"/>
                    <a:pt x="112" y="2865691"/>
                  </a:cubicBezTo>
                  <a:lnTo>
                    <a:pt x="224192" y="38528"/>
                  </a:lnTo>
                  <a:cubicBezTo>
                    <a:pt x="225916" y="16774"/>
                    <a:pt x="244072" y="0"/>
                    <a:pt x="265894" y="0"/>
                  </a:cubicBezTo>
                  <a:close/>
                </a:path>
              </a:pathLst>
            </a:custGeom>
            <a:solidFill>
              <a:srgbClr val="31537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47625"/>
              <a:ext cx="228600" cy="2951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16687">
            <a:off x="7232776" y="-5586430"/>
            <a:ext cx="2820165" cy="12167677"/>
            <a:chOff x="0" y="0"/>
            <a:chExt cx="673126" cy="2904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219" y="0"/>
              <a:ext cx="666687" cy="2904219"/>
            </a:xfrm>
            <a:custGeom>
              <a:avLst/>
              <a:gdLst/>
              <a:ahLst/>
              <a:cxnLst/>
              <a:rect r="r" b="b" t="t" l="l"/>
              <a:pathLst>
                <a:path h="2904219" w="666687">
                  <a:moveTo>
                    <a:pt x="269262" y="0"/>
                  </a:moveTo>
                  <a:lnTo>
                    <a:pt x="627613" y="0"/>
                  </a:lnTo>
                  <a:cubicBezTo>
                    <a:pt x="638513" y="0"/>
                    <a:pt x="648917" y="4553"/>
                    <a:pt x="656314" y="12558"/>
                  </a:cubicBezTo>
                  <a:cubicBezTo>
                    <a:pt x="663710" y="20564"/>
                    <a:pt x="667426" y="31296"/>
                    <a:pt x="666565" y="42161"/>
                  </a:cubicBezTo>
                  <a:lnTo>
                    <a:pt x="443061" y="2862058"/>
                  </a:lnTo>
                  <a:cubicBezTo>
                    <a:pt x="441174" y="2885863"/>
                    <a:pt x="421306" y="2904219"/>
                    <a:pt x="397426" y="2904219"/>
                  </a:cubicBezTo>
                  <a:lnTo>
                    <a:pt x="39074" y="2904219"/>
                  </a:lnTo>
                  <a:cubicBezTo>
                    <a:pt x="28175" y="2904219"/>
                    <a:pt x="17771" y="2899667"/>
                    <a:pt x="10374" y="2891661"/>
                  </a:cubicBezTo>
                  <a:cubicBezTo>
                    <a:pt x="2978" y="2883655"/>
                    <a:pt x="-739" y="2872924"/>
                    <a:pt x="123" y="2862058"/>
                  </a:cubicBezTo>
                  <a:lnTo>
                    <a:pt x="223627" y="42161"/>
                  </a:lnTo>
                  <a:cubicBezTo>
                    <a:pt x="225514" y="18356"/>
                    <a:pt x="245382" y="0"/>
                    <a:pt x="269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0" y="-47625"/>
              <a:ext cx="165126" cy="2951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8585708" cy="10287000"/>
            <a:chOff x="0" y="0"/>
            <a:chExt cx="8585708" cy="1028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85708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8585708">
                  <a:moveTo>
                    <a:pt x="8585708" y="762"/>
                  </a:moveTo>
                  <a:cubicBezTo>
                    <a:pt x="8581644" y="20447"/>
                    <a:pt x="8577961" y="40132"/>
                    <a:pt x="8573515" y="59690"/>
                  </a:cubicBezTo>
                  <a:cubicBezTo>
                    <a:pt x="8478139" y="485521"/>
                    <a:pt x="8382635" y="911225"/>
                    <a:pt x="8287258" y="1337056"/>
                  </a:cubicBezTo>
                  <a:cubicBezTo>
                    <a:pt x="8146288" y="1966722"/>
                    <a:pt x="8005699" y="2596388"/>
                    <a:pt x="7864601" y="3225927"/>
                  </a:cubicBezTo>
                  <a:cubicBezTo>
                    <a:pt x="7691247" y="3999103"/>
                    <a:pt x="7517384" y="4772152"/>
                    <a:pt x="7344028" y="5545328"/>
                  </a:cubicBezTo>
                  <a:cubicBezTo>
                    <a:pt x="7194676" y="6211443"/>
                    <a:pt x="7045578" y="6877558"/>
                    <a:pt x="6896353" y="7543800"/>
                  </a:cubicBezTo>
                  <a:cubicBezTo>
                    <a:pt x="6765289" y="8129016"/>
                    <a:pt x="6634480" y="8714105"/>
                    <a:pt x="6503162" y="9299194"/>
                  </a:cubicBezTo>
                  <a:cubicBezTo>
                    <a:pt x="6429375" y="9628251"/>
                    <a:pt x="6354953" y="9957181"/>
                    <a:pt x="6280785" y="10286238"/>
                  </a:cubicBezTo>
                  <a:cubicBezTo>
                    <a:pt x="4199382" y="10286238"/>
                    <a:pt x="2118106" y="10286111"/>
                    <a:pt x="36830" y="10287000"/>
                  </a:cubicBezTo>
                  <a:cubicBezTo>
                    <a:pt x="6731" y="10287000"/>
                    <a:pt x="0" y="10280269"/>
                    <a:pt x="0" y="10250043"/>
                  </a:cubicBezTo>
                  <a:cubicBezTo>
                    <a:pt x="762" y="6845681"/>
                    <a:pt x="762" y="3441319"/>
                    <a:pt x="0" y="36957"/>
                  </a:cubicBezTo>
                  <a:cubicBezTo>
                    <a:pt x="0" y="6731"/>
                    <a:pt x="6731" y="0"/>
                    <a:pt x="36830" y="0"/>
                  </a:cubicBezTo>
                  <a:cubicBezTo>
                    <a:pt x="2886456" y="762"/>
                    <a:pt x="5736082" y="762"/>
                    <a:pt x="8585708" y="762"/>
                  </a:cubicBez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44950" y="-1193208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537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32021" y="8628797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975071" y="7774688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7"/>
                </a:lnTo>
                <a:lnTo>
                  <a:pt x="0" y="1708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62596" y="602354"/>
            <a:ext cx="1532644" cy="1515924"/>
          </a:xfrm>
          <a:custGeom>
            <a:avLst/>
            <a:gdLst/>
            <a:ahLst/>
            <a:cxnLst/>
            <a:rect r="r" b="b" t="t" l="l"/>
            <a:pathLst>
              <a:path h="1515924" w="1532644">
                <a:moveTo>
                  <a:pt x="0" y="0"/>
                </a:moveTo>
                <a:lnTo>
                  <a:pt x="1532644" y="0"/>
                </a:lnTo>
                <a:lnTo>
                  <a:pt x="1532644" y="1515924"/>
                </a:lnTo>
                <a:lnTo>
                  <a:pt x="0" y="1515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049769" y="3402111"/>
            <a:ext cx="6764504" cy="55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sz="3520" spc="-193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DevOps CloudSandbox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49769" y="5556032"/>
            <a:ext cx="6340699" cy="21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9"/>
              </a:lnSpc>
            </a:pPr>
            <a:r>
              <a:rPr lang="en-US" b="true" sz="124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Interactive Learning Platform for Enterprise DevOps Infrastructure Simulation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7422" y="2767746"/>
            <a:ext cx="6340699" cy="2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</a:pPr>
            <a:r>
              <a:rPr lang="en-US" sz="143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Final Year Project Presentation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49769" y="6190397"/>
            <a:ext cx="219533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64720" y="6190446"/>
            <a:ext cx="338225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Oshunyingbo Adedeji  |  July 22,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330495"/>
            <a:chOff x="0" y="0"/>
            <a:chExt cx="2833290" cy="825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825833"/>
            </a:xfrm>
            <a:custGeom>
              <a:avLst/>
              <a:gdLst/>
              <a:ahLst/>
              <a:cxnLst/>
              <a:rect r="r" b="b" t="t" l="l"/>
              <a:pathLst>
                <a:path h="82583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825833"/>
                  </a:lnTo>
                  <a:lnTo>
                    <a:pt x="0" y="825833"/>
                  </a:lnTo>
                  <a:close/>
                </a:path>
              </a:pathLst>
            </a:custGeom>
            <a:blipFill>
              <a:blip r:embed="rId2"/>
              <a:stretch>
                <a:fillRect l="0" t="-390" r="0" b="-3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89577" y="3702881"/>
            <a:ext cx="5154498" cy="5140148"/>
            <a:chOff x="0" y="0"/>
            <a:chExt cx="1357563" cy="13537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7563" cy="1353784"/>
            </a:xfrm>
            <a:custGeom>
              <a:avLst/>
              <a:gdLst/>
              <a:ahLst/>
              <a:cxnLst/>
              <a:rect r="r" b="b" t="t" l="l"/>
              <a:pathLst>
                <a:path h="1353784" w="1357563">
                  <a:moveTo>
                    <a:pt x="0" y="0"/>
                  </a:moveTo>
                  <a:lnTo>
                    <a:pt x="1357563" y="0"/>
                  </a:lnTo>
                  <a:lnTo>
                    <a:pt x="1357563" y="1353784"/>
                  </a:lnTo>
                  <a:lnTo>
                    <a:pt x="0" y="1353784"/>
                  </a:ln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57563" cy="140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35002" y="4030360"/>
            <a:ext cx="4338537" cy="2133370"/>
            <a:chOff x="0" y="0"/>
            <a:chExt cx="707961" cy="3481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7961" cy="348123"/>
            </a:xfrm>
            <a:custGeom>
              <a:avLst/>
              <a:gdLst/>
              <a:ahLst/>
              <a:cxnLst/>
              <a:rect r="r" b="b" t="t" l="l"/>
              <a:pathLst>
                <a:path h="348123" w="707961">
                  <a:moveTo>
                    <a:pt x="0" y="0"/>
                  </a:moveTo>
                  <a:lnTo>
                    <a:pt x="707961" y="0"/>
                  </a:lnTo>
                  <a:lnTo>
                    <a:pt x="707961" y="348123"/>
                  </a:lnTo>
                  <a:lnTo>
                    <a:pt x="0" y="348123"/>
                  </a:lnTo>
                  <a:close/>
                </a:path>
              </a:pathLst>
            </a:custGeom>
            <a:blipFill>
              <a:blip r:embed="rId3"/>
              <a:stretch>
                <a:fillRect l="0" t="-332" r="0" b="-33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02548" y="6936758"/>
            <a:ext cx="6829010" cy="74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6"/>
              </a:lnSpc>
            </a:pPr>
            <a:r>
              <a:rPr lang="en-US" sz="4766" spc="-262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Why This Project Exists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2548" y="6249861"/>
            <a:ext cx="5654814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Purpose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931559" y="8329612"/>
            <a:ext cx="2949488" cy="1957388"/>
          </a:xfrm>
          <a:custGeom>
            <a:avLst/>
            <a:gdLst/>
            <a:ahLst/>
            <a:cxnLst/>
            <a:rect r="r" b="b" t="t" l="l"/>
            <a:pathLst>
              <a:path h="1957388" w="2949488">
                <a:moveTo>
                  <a:pt x="0" y="0"/>
                </a:moveTo>
                <a:lnTo>
                  <a:pt x="2949488" y="0"/>
                </a:lnTo>
                <a:lnTo>
                  <a:pt x="2949488" y="1957388"/>
                </a:lnTo>
                <a:lnTo>
                  <a:pt x="0" y="1957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235002" y="6407803"/>
            <a:ext cx="4621404" cy="203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Simulate enterprise DevOps infrastructure locally without costly cloud resources</a:t>
            </a:r>
          </a:p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Teach cloud-native skills through hands-on container and Kubernetes practice</a:t>
            </a:r>
          </a:p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Provide a safe environment for students and developers to experiment freely</a:t>
            </a:r>
          </a:p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Enable practical learning of container orchestration and infrastructure concepts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983552" y="8290578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90932" y="8125410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20291">
            <a:off x="-341804" y="-343516"/>
            <a:ext cx="19064493" cy="7244507"/>
          </a:xfrm>
          <a:custGeom>
            <a:avLst/>
            <a:gdLst/>
            <a:ahLst/>
            <a:cxnLst/>
            <a:rect r="r" b="b" t="t" l="l"/>
            <a:pathLst>
              <a:path h="7244507" w="19064493">
                <a:moveTo>
                  <a:pt x="0" y="0"/>
                </a:moveTo>
                <a:lnTo>
                  <a:pt x="19064493" y="0"/>
                </a:lnTo>
                <a:lnTo>
                  <a:pt x="19064493" y="7244508"/>
                </a:lnTo>
                <a:lnTo>
                  <a:pt x="0" y="724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74187" y="1745776"/>
            <a:ext cx="6498747" cy="2756901"/>
            <a:chOff x="0" y="0"/>
            <a:chExt cx="852033" cy="3614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2033" cy="361450"/>
            </a:xfrm>
            <a:custGeom>
              <a:avLst/>
              <a:gdLst/>
              <a:ahLst/>
              <a:cxnLst/>
              <a:rect r="r" b="b" t="t" l="l"/>
              <a:pathLst>
                <a:path h="361450" w="852033">
                  <a:moveTo>
                    <a:pt x="35739" y="0"/>
                  </a:moveTo>
                  <a:lnTo>
                    <a:pt x="816294" y="0"/>
                  </a:lnTo>
                  <a:cubicBezTo>
                    <a:pt x="825773" y="0"/>
                    <a:pt x="834863" y="3765"/>
                    <a:pt x="841565" y="10468"/>
                  </a:cubicBezTo>
                  <a:cubicBezTo>
                    <a:pt x="848268" y="17170"/>
                    <a:pt x="852033" y="26260"/>
                    <a:pt x="852033" y="35739"/>
                  </a:cubicBezTo>
                  <a:lnTo>
                    <a:pt x="852033" y="325711"/>
                  </a:lnTo>
                  <a:cubicBezTo>
                    <a:pt x="852033" y="335190"/>
                    <a:pt x="848268" y="344280"/>
                    <a:pt x="841565" y="350982"/>
                  </a:cubicBezTo>
                  <a:cubicBezTo>
                    <a:pt x="834863" y="357685"/>
                    <a:pt x="825773" y="361450"/>
                    <a:pt x="816294" y="361450"/>
                  </a:cubicBezTo>
                  <a:lnTo>
                    <a:pt x="35739" y="361450"/>
                  </a:lnTo>
                  <a:cubicBezTo>
                    <a:pt x="16001" y="361450"/>
                    <a:pt x="0" y="345449"/>
                    <a:pt x="0" y="325711"/>
                  </a:cubicBezTo>
                  <a:lnTo>
                    <a:pt x="0" y="35739"/>
                  </a:lnTo>
                  <a:cubicBezTo>
                    <a:pt x="0" y="26260"/>
                    <a:pt x="3765" y="17170"/>
                    <a:pt x="10468" y="10468"/>
                  </a:cubicBezTo>
                  <a:cubicBezTo>
                    <a:pt x="17170" y="3765"/>
                    <a:pt x="26260" y="0"/>
                    <a:pt x="3573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72" r="0" b="-3192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152616" y="1745776"/>
            <a:ext cx="4480221" cy="2756901"/>
            <a:chOff x="0" y="0"/>
            <a:chExt cx="590355" cy="3632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0355" cy="363275"/>
            </a:xfrm>
            <a:custGeom>
              <a:avLst/>
              <a:gdLst/>
              <a:ahLst/>
              <a:cxnLst/>
              <a:rect r="r" b="b" t="t" l="l"/>
              <a:pathLst>
                <a:path h="363275" w="590355">
                  <a:moveTo>
                    <a:pt x="51841" y="0"/>
                  </a:moveTo>
                  <a:lnTo>
                    <a:pt x="538515" y="0"/>
                  </a:lnTo>
                  <a:cubicBezTo>
                    <a:pt x="552264" y="0"/>
                    <a:pt x="565449" y="5462"/>
                    <a:pt x="575171" y="15184"/>
                  </a:cubicBezTo>
                  <a:cubicBezTo>
                    <a:pt x="584893" y="24906"/>
                    <a:pt x="590355" y="38092"/>
                    <a:pt x="590355" y="51841"/>
                  </a:cubicBezTo>
                  <a:lnTo>
                    <a:pt x="590355" y="311434"/>
                  </a:lnTo>
                  <a:cubicBezTo>
                    <a:pt x="590355" y="325183"/>
                    <a:pt x="584893" y="338369"/>
                    <a:pt x="575171" y="348091"/>
                  </a:cubicBezTo>
                  <a:cubicBezTo>
                    <a:pt x="565449" y="357813"/>
                    <a:pt x="552264" y="363275"/>
                    <a:pt x="538515" y="363275"/>
                  </a:cubicBezTo>
                  <a:lnTo>
                    <a:pt x="51841" y="363275"/>
                  </a:lnTo>
                  <a:cubicBezTo>
                    <a:pt x="38092" y="363275"/>
                    <a:pt x="24906" y="357813"/>
                    <a:pt x="15184" y="348091"/>
                  </a:cubicBezTo>
                  <a:cubicBezTo>
                    <a:pt x="5462" y="338369"/>
                    <a:pt x="0" y="325183"/>
                    <a:pt x="0" y="311434"/>
                  </a:cubicBezTo>
                  <a:lnTo>
                    <a:pt x="0" y="51841"/>
                  </a:lnTo>
                  <a:cubicBezTo>
                    <a:pt x="0" y="38092"/>
                    <a:pt x="5462" y="24906"/>
                    <a:pt x="15184" y="15184"/>
                  </a:cubicBezTo>
                  <a:cubicBezTo>
                    <a:pt x="24906" y="5462"/>
                    <a:pt x="38092" y="0"/>
                    <a:pt x="5184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073" r="0" b="-130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72417" y="1745776"/>
            <a:ext cx="4938848" cy="2756901"/>
            <a:chOff x="0" y="0"/>
            <a:chExt cx="590355" cy="3295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0355" cy="329541"/>
            </a:xfrm>
            <a:custGeom>
              <a:avLst/>
              <a:gdLst/>
              <a:ahLst/>
              <a:cxnLst/>
              <a:rect r="r" b="b" t="t" l="l"/>
              <a:pathLst>
                <a:path h="329541" w="590355">
                  <a:moveTo>
                    <a:pt x="47027" y="0"/>
                  </a:moveTo>
                  <a:lnTo>
                    <a:pt x="543329" y="0"/>
                  </a:lnTo>
                  <a:cubicBezTo>
                    <a:pt x="569301" y="0"/>
                    <a:pt x="590355" y="21055"/>
                    <a:pt x="590355" y="47027"/>
                  </a:cubicBezTo>
                  <a:lnTo>
                    <a:pt x="590355" y="282514"/>
                  </a:lnTo>
                  <a:cubicBezTo>
                    <a:pt x="590355" y="294986"/>
                    <a:pt x="585401" y="306948"/>
                    <a:pt x="576581" y="315767"/>
                  </a:cubicBezTo>
                  <a:cubicBezTo>
                    <a:pt x="567762" y="324586"/>
                    <a:pt x="555801" y="329541"/>
                    <a:pt x="543329" y="329541"/>
                  </a:cubicBezTo>
                  <a:lnTo>
                    <a:pt x="47027" y="329541"/>
                  </a:lnTo>
                  <a:cubicBezTo>
                    <a:pt x="21055" y="329541"/>
                    <a:pt x="0" y="308486"/>
                    <a:pt x="0" y="282514"/>
                  </a:cubicBezTo>
                  <a:lnTo>
                    <a:pt x="0" y="47027"/>
                  </a:lnTo>
                  <a:cubicBezTo>
                    <a:pt x="0" y="21055"/>
                    <a:pt x="21055" y="0"/>
                    <a:pt x="47027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9530" r="0" b="-1953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45475" y="5227594"/>
            <a:ext cx="6761049" cy="3872321"/>
            <a:chOff x="0" y="0"/>
            <a:chExt cx="1678218" cy="9611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8218" cy="961182"/>
            </a:xfrm>
            <a:custGeom>
              <a:avLst/>
              <a:gdLst/>
              <a:ahLst/>
              <a:cxnLst/>
              <a:rect r="r" b="b" t="t" l="l"/>
              <a:pathLst>
                <a:path h="961182" w="1678218">
                  <a:moveTo>
                    <a:pt x="40078" y="0"/>
                  </a:moveTo>
                  <a:lnTo>
                    <a:pt x="1638141" y="0"/>
                  </a:lnTo>
                  <a:cubicBezTo>
                    <a:pt x="1660275" y="0"/>
                    <a:pt x="1678218" y="17943"/>
                    <a:pt x="1678218" y="40078"/>
                  </a:cubicBezTo>
                  <a:lnTo>
                    <a:pt x="1678218" y="921105"/>
                  </a:lnTo>
                  <a:cubicBezTo>
                    <a:pt x="1678218" y="943239"/>
                    <a:pt x="1660275" y="961182"/>
                    <a:pt x="1638141" y="961182"/>
                  </a:cubicBezTo>
                  <a:lnTo>
                    <a:pt x="40078" y="961182"/>
                  </a:lnTo>
                  <a:cubicBezTo>
                    <a:pt x="17943" y="961182"/>
                    <a:pt x="0" y="943239"/>
                    <a:pt x="0" y="921105"/>
                  </a:cubicBezTo>
                  <a:lnTo>
                    <a:pt x="0" y="40078"/>
                  </a:lnTo>
                  <a:cubicBezTo>
                    <a:pt x="0" y="17943"/>
                    <a:pt x="17943" y="0"/>
                    <a:pt x="40078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78218" cy="1008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55263" y="8743950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53001" y="8105142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03543" y="8674859"/>
            <a:ext cx="3080913" cy="2044606"/>
          </a:xfrm>
          <a:custGeom>
            <a:avLst/>
            <a:gdLst/>
            <a:ahLst/>
            <a:cxnLst/>
            <a:rect r="r" b="b" t="t" l="l"/>
            <a:pathLst>
              <a:path h="2044606" w="3080913">
                <a:moveTo>
                  <a:pt x="0" y="0"/>
                </a:moveTo>
                <a:lnTo>
                  <a:pt x="3080914" y="0"/>
                </a:lnTo>
                <a:lnTo>
                  <a:pt x="3080914" y="2044606"/>
                </a:lnTo>
                <a:lnTo>
                  <a:pt x="0" y="20446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64617" y="6071994"/>
            <a:ext cx="6297107" cy="72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95"/>
              </a:lnSpc>
            </a:pPr>
            <a:r>
              <a:rPr lang="en-US" sz="4695" spc="-258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Feature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2986" y="6772277"/>
            <a:ext cx="5574970" cy="197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8"/>
              </a:lnSpc>
            </a:pPr>
            <a:r>
              <a:rPr lang="en-US" sz="192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Container Management Simulation</a:t>
            </a:r>
          </a:p>
          <a:p>
            <a:pPr algn="l" marL="0" indent="0" lvl="0">
              <a:lnSpc>
                <a:spcPts val="2688"/>
              </a:lnSpc>
            </a:pPr>
            <a:r>
              <a:rPr lang="en-US" sz="192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Kubernetes Manifest Validation</a:t>
            </a:r>
          </a:p>
          <a:p>
            <a:pPr algn="l" marL="0" indent="0" lvl="0">
              <a:lnSpc>
                <a:spcPts val="2688"/>
              </a:lnSpc>
            </a:pPr>
            <a:r>
              <a:rPr lang="en-US" sz="192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Load Balancer Simulation</a:t>
            </a:r>
          </a:p>
          <a:p>
            <a:pPr algn="l" marL="0" indent="0" lvl="0">
              <a:lnSpc>
                <a:spcPts val="2688"/>
              </a:lnSpc>
            </a:pPr>
            <a:r>
              <a:rPr lang="en-US" sz="192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Progress Tracking &amp; Gamification</a:t>
            </a:r>
          </a:p>
          <a:p>
            <a:pPr algn="l" marL="0" indent="0" lvl="0">
              <a:lnSpc>
                <a:spcPts val="2688"/>
              </a:lnSpc>
            </a:pPr>
            <a:r>
              <a:rPr lang="en-US" sz="192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Interactive Terminal Experience</a:t>
            </a:r>
          </a:p>
          <a:p>
            <a:pPr algn="l" marL="0" indent="0" lvl="0">
              <a:lnSpc>
                <a:spcPts val="2688"/>
              </a:lnSpc>
            </a:pPr>
            <a:r>
              <a:rPr lang="en-US" sz="192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User Management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2986" y="5781186"/>
            <a:ext cx="3764533" cy="91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3"/>
              </a:lnSpc>
            </a:pPr>
            <a:r>
              <a:rPr lang="en-US" b="true" sz="2673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Core Platform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2022" y="8035483"/>
            <a:ext cx="4024201" cy="2670606"/>
          </a:xfrm>
          <a:custGeom>
            <a:avLst/>
            <a:gdLst/>
            <a:ahLst/>
            <a:cxnLst/>
            <a:rect r="r" b="b" t="t" l="l"/>
            <a:pathLst>
              <a:path h="2670606" w="4024201">
                <a:moveTo>
                  <a:pt x="0" y="0"/>
                </a:moveTo>
                <a:lnTo>
                  <a:pt x="4024201" y="0"/>
                </a:lnTo>
                <a:lnTo>
                  <a:pt x="4024201" y="2670606"/>
                </a:lnTo>
                <a:lnTo>
                  <a:pt x="0" y="267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3974" y="5143500"/>
            <a:ext cx="5456410" cy="3163159"/>
            <a:chOff x="0" y="0"/>
            <a:chExt cx="1354383" cy="7851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4383" cy="785155"/>
            </a:xfrm>
            <a:custGeom>
              <a:avLst/>
              <a:gdLst/>
              <a:ahLst/>
              <a:cxnLst/>
              <a:rect r="r" b="b" t="t" l="l"/>
              <a:pathLst>
                <a:path h="785155" w="1354383">
                  <a:moveTo>
                    <a:pt x="34053" y="0"/>
                  </a:moveTo>
                  <a:lnTo>
                    <a:pt x="1320330" y="0"/>
                  </a:lnTo>
                  <a:cubicBezTo>
                    <a:pt x="1329361" y="0"/>
                    <a:pt x="1338023" y="3588"/>
                    <a:pt x="1344409" y="9974"/>
                  </a:cubicBezTo>
                  <a:cubicBezTo>
                    <a:pt x="1350795" y="16360"/>
                    <a:pt x="1354383" y="25021"/>
                    <a:pt x="1354383" y="34053"/>
                  </a:cubicBezTo>
                  <a:lnTo>
                    <a:pt x="1354383" y="751102"/>
                  </a:lnTo>
                  <a:cubicBezTo>
                    <a:pt x="1354383" y="769909"/>
                    <a:pt x="1339137" y="785155"/>
                    <a:pt x="1320330" y="785155"/>
                  </a:cubicBezTo>
                  <a:lnTo>
                    <a:pt x="34053" y="785155"/>
                  </a:lnTo>
                  <a:cubicBezTo>
                    <a:pt x="15246" y="785155"/>
                    <a:pt x="0" y="769909"/>
                    <a:pt x="0" y="751102"/>
                  </a:cubicBezTo>
                  <a:lnTo>
                    <a:pt x="0" y="34053"/>
                  </a:lnTo>
                  <a:cubicBezTo>
                    <a:pt x="0" y="25021"/>
                    <a:pt x="3588" y="16360"/>
                    <a:pt x="9974" y="9974"/>
                  </a:cubicBezTo>
                  <a:cubicBezTo>
                    <a:pt x="16360" y="3588"/>
                    <a:pt x="25021" y="0"/>
                    <a:pt x="34053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54383" cy="832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72306" y="5487399"/>
            <a:ext cx="642550" cy="501526"/>
          </a:xfrm>
          <a:custGeom>
            <a:avLst/>
            <a:gdLst/>
            <a:ahLst/>
            <a:cxnLst/>
            <a:rect r="r" b="b" t="t" l="l"/>
            <a:pathLst>
              <a:path h="501526" w="642550">
                <a:moveTo>
                  <a:pt x="0" y="0"/>
                </a:moveTo>
                <a:lnTo>
                  <a:pt x="642550" y="0"/>
                </a:lnTo>
                <a:lnTo>
                  <a:pt x="642550" y="501526"/>
                </a:lnTo>
                <a:lnTo>
                  <a:pt x="0" y="501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399999">
            <a:off x="7766969" y="4105906"/>
            <a:ext cx="15109371" cy="5741561"/>
          </a:xfrm>
          <a:custGeom>
            <a:avLst/>
            <a:gdLst/>
            <a:ahLst/>
            <a:cxnLst/>
            <a:rect r="r" b="b" t="t" l="l"/>
            <a:pathLst>
              <a:path h="5741561" w="15109371">
                <a:moveTo>
                  <a:pt x="0" y="0"/>
                </a:moveTo>
                <a:lnTo>
                  <a:pt x="15109371" y="0"/>
                </a:lnTo>
                <a:lnTo>
                  <a:pt x="15109371" y="5741561"/>
                </a:lnTo>
                <a:lnTo>
                  <a:pt x="0" y="5741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164677" y="2840440"/>
            <a:ext cx="6027758" cy="5795444"/>
            <a:chOff x="0" y="0"/>
            <a:chExt cx="755363" cy="7262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5363" cy="726251"/>
            </a:xfrm>
            <a:custGeom>
              <a:avLst/>
              <a:gdLst/>
              <a:ahLst/>
              <a:cxnLst/>
              <a:rect r="r" b="b" t="t" l="l"/>
              <a:pathLst>
                <a:path h="726251" w="755363">
                  <a:moveTo>
                    <a:pt x="32109" y="0"/>
                  </a:moveTo>
                  <a:lnTo>
                    <a:pt x="723253" y="0"/>
                  </a:lnTo>
                  <a:cubicBezTo>
                    <a:pt x="740987" y="0"/>
                    <a:pt x="755363" y="14376"/>
                    <a:pt x="755363" y="32109"/>
                  </a:cubicBezTo>
                  <a:lnTo>
                    <a:pt x="755363" y="694141"/>
                  </a:lnTo>
                  <a:cubicBezTo>
                    <a:pt x="755363" y="711875"/>
                    <a:pt x="740987" y="726251"/>
                    <a:pt x="723253" y="726251"/>
                  </a:cubicBezTo>
                  <a:lnTo>
                    <a:pt x="32109" y="726251"/>
                  </a:lnTo>
                  <a:cubicBezTo>
                    <a:pt x="14376" y="726251"/>
                    <a:pt x="0" y="711875"/>
                    <a:pt x="0" y="694141"/>
                  </a:cubicBezTo>
                  <a:lnTo>
                    <a:pt x="0" y="32109"/>
                  </a:lnTo>
                  <a:cubicBezTo>
                    <a:pt x="0" y="14376"/>
                    <a:pt x="14376" y="0"/>
                    <a:pt x="32109" y="0"/>
                  </a:cubicBezTo>
                  <a:close/>
                </a:path>
              </a:pathLst>
            </a:custGeom>
            <a:blipFill>
              <a:blip r:embed="rId7"/>
              <a:stretch>
                <a:fillRect l="-35463" t="0" r="-3546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715083" y="-1349784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27967" y="542664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1" y="0"/>
                </a:lnTo>
                <a:lnTo>
                  <a:pt x="1623231" y="1708217"/>
                </a:lnTo>
                <a:lnTo>
                  <a:pt x="0" y="17082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51923" y="2404911"/>
            <a:ext cx="5584154" cy="6666502"/>
          </a:xfrm>
          <a:custGeom>
            <a:avLst/>
            <a:gdLst/>
            <a:ahLst/>
            <a:cxnLst/>
            <a:rect r="r" b="b" t="t" l="l"/>
            <a:pathLst>
              <a:path h="6666502" w="5584154">
                <a:moveTo>
                  <a:pt x="0" y="0"/>
                </a:moveTo>
                <a:lnTo>
                  <a:pt x="5584154" y="0"/>
                </a:lnTo>
                <a:lnTo>
                  <a:pt x="5584154" y="6666502"/>
                </a:lnTo>
                <a:lnTo>
                  <a:pt x="0" y="66665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0360" t="0" r="-7187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0078" y="2732198"/>
            <a:ext cx="6030632" cy="185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7"/>
              </a:lnSpc>
            </a:pPr>
            <a:r>
              <a:rPr lang="en-US" sz="4517" spc="-248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Container Management Simulation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215002"/>
            <a:ext cx="4796077" cy="171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4"/>
              </a:lnSpc>
            </a:pPr>
            <a:r>
              <a:rPr lang="en-US" sz="1653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Run, stop, start, and delete containers with Docker-like CLI commands. Each container receives a simulated IP address and unique container ID. Monitor real-time status (RUNNING / STOPPED) and validate Docker Hub images before pulling.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318324"/>
            <a:ext cx="4085104" cy="8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Docker-like Commands &amp; Real-Time Monitoring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2022" y="8035483"/>
            <a:ext cx="4024201" cy="2670606"/>
          </a:xfrm>
          <a:custGeom>
            <a:avLst/>
            <a:gdLst/>
            <a:ahLst/>
            <a:cxnLst/>
            <a:rect r="r" b="b" t="t" l="l"/>
            <a:pathLst>
              <a:path h="2670606" w="4024201">
                <a:moveTo>
                  <a:pt x="0" y="0"/>
                </a:moveTo>
                <a:lnTo>
                  <a:pt x="4024201" y="0"/>
                </a:lnTo>
                <a:lnTo>
                  <a:pt x="4024201" y="2670606"/>
                </a:lnTo>
                <a:lnTo>
                  <a:pt x="0" y="267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2052" y="5099198"/>
            <a:ext cx="5456410" cy="3163159"/>
            <a:chOff x="0" y="0"/>
            <a:chExt cx="1354383" cy="7851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4383" cy="785155"/>
            </a:xfrm>
            <a:custGeom>
              <a:avLst/>
              <a:gdLst/>
              <a:ahLst/>
              <a:cxnLst/>
              <a:rect r="r" b="b" t="t" l="l"/>
              <a:pathLst>
                <a:path h="785155" w="1354383">
                  <a:moveTo>
                    <a:pt x="34053" y="0"/>
                  </a:moveTo>
                  <a:lnTo>
                    <a:pt x="1320330" y="0"/>
                  </a:lnTo>
                  <a:cubicBezTo>
                    <a:pt x="1329361" y="0"/>
                    <a:pt x="1338023" y="3588"/>
                    <a:pt x="1344409" y="9974"/>
                  </a:cubicBezTo>
                  <a:cubicBezTo>
                    <a:pt x="1350795" y="16360"/>
                    <a:pt x="1354383" y="25021"/>
                    <a:pt x="1354383" y="34053"/>
                  </a:cubicBezTo>
                  <a:lnTo>
                    <a:pt x="1354383" y="751102"/>
                  </a:lnTo>
                  <a:cubicBezTo>
                    <a:pt x="1354383" y="769909"/>
                    <a:pt x="1339137" y="785155"/>
                    <a:pt x="1320330" y="785155"/>
                  </a:cubicBezTo>
                  <a:lnTo>
                    <a:pt x="34053" y="785155"/>
                  </a:lnTo>
                  <a:cubicBezTo>
                    <a:pt x="15246" y="785155"/>
                    <a:pt x="0" y="769909"/>
                    <a:pt x="0" y="751102"/>
                  </a:cubicBezTo>
                  <a:lnTo>
                    <a:pt x="0" y="34053"/>
                  </a:lnTo>
                  <a:cubicBezTo>
                    <a:pt x="0" y="25021"/>
                    <a:pt x="3588" y="16360"/>
                    <a:pt x="9974" y="9974"/>
                  </a:cubicBezTo>
                  <a:cubicBezTo>
                    <a:pt x="16360" y="3588"/>
                    <a:pt x="25021" y="0"/>
                    <a:pt x="34053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54383" cy="832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23588" y="5526677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399999">
            <a:off x="7766969" y="4105906"/>
            <a:ext cx="15109371" cy="5741561"/>
          </a:xfrm>
          <a:custGeom>
            <a:avLst/>
            <a:gdLst/>
            <a:ahLst/>
            <a:cxnLst/>
            <a:rect r="r" b="b" t="t" l="l"/>
            <a:pathLst>
              <a:path h="5741561" w="15109371">
                <a:moveTo>
                  <a:pt x="0" y="0"/>
                </a:moveTo>
                <a:lnTo>
                  <a:pt x="15109371" y="0"/>
                </a:lnTo>
                <a:lnTo>
                  <a:pt x="15109371" y="5741561"/>
                </a:lnTo>
                <a:lnTo>
                  <a:pt x="0" y="5741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777899" y="2250881"/>
            <a:ext cx="4806904" cy="7007419"/>
            <a:chOff x="0" y="0"/>
            <a:chExt cx="825181" cy="1202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5181" cy="1202934"/>
            </a:xfrm>
            <a:custGeom>
              <a:avLst/>
              <a:gdLst/>
              <a:ahLst/>
              <a:cxnLst/>
              <a:rect r="r" b="b" t="t" l="l"/>
              <a:pathLst>
                <a:path h="1202934" w="825181">
                  <a:moveTo>
                    <a:pt x="40265" y="0"/>
                  </a:moveTo>
                  <a:lnTo>
                    <a:pt x="784916" y="0"/>
                  </a:lnTo>
                  <a:cubicBezTo>
                    <a:pt x="807154" y="0"/>
                    <a:pt x="825181" y="18027"/>
                    <a:pt x="825181" y="40265"/>
                  </a:cubicBezTo>
                  <a:lnTo>
                    <a:pt x="825181" y="1162669"/>
                  </a:lnTo>
                  <a:cubicBezTo>
                    <a:pt x="825181" y="1173348"/>
                    <a:pt x="820939" y="1183589"/>
                    <a:pt x="813388" y="1191140"/>
                  </a:cubicBezTo>
                  <a:cubicBezTo>
                    <a:pt x="805837" y="1198691"/>
                    <a:pt x="795595" y="1202934"/>
                    <a:pt x="784916" y="1202934"/>
                  </a:cubicBezTo>
                  <a:lnTo>
                    <a:pt x="40265" y="1202934"/>
                  </a:lnTo>
                  <a:cubicBezTo>
                    <a:pt x="29586" y="1202934"/>
                    <a:pt x="19344" y="1198691"/>
                    <a:pt x="11793" y="1191140"/>
                  </a:cubicBezTo>
                  <a:cubicBezTo>
                    <a:pt x="4242" y="1183589"/>
                    <a:pt x="0" y="1173348"/>
                    <a:pt x="0" y="1162669"/>
                  </a:cubicBezTo>
                  <a:lnTo>
                    <a:pt x="0" y="40265"/>
                  </a:lnTo>
                  <a:cubicBezTo>
                    <a:pt x="0" y="29586"/>
                    <a:pt x="4242" y="19344"/>
                    <a:pt x="11793" y="11793"/>
                  </a:cubicBezTo>
                  <a:cubicBezTo>
                    <a:pt x="19344" y="4242"/>
                    <a:pt x="29586" y="0"/>
                    <a:pt x="40265" y="0"/>
                  </a:cubicBezTo>
                  <a:close/>
                </a:path>
              </a:pathLst>
            </a:custGeom>
            <a:blipFill>
              <a:blip r:embed="rId8"/>
              <a:stretch>
                <a:fillRect l="-79580" t="0" r="-7958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61102" y="2250881"/>
            <a:ext cx="4526297" cy="7007419"/>
            <a:chOff x="0" y="0"/>
            <a:chExt cx="777010" cy="120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7010" cy="1202934"/>
            </a:xfrm>
            <a:custGeom>
              <a:avLst/>
              <a:gdLst/>
              <a:ahLst/>
              <a:cxnLst/>
              <a:rect r="r" b="b" t="t" l="l"/>
              <a:pathLst>
                <a:path h="1202934" w="777010">
                  <a:moveTo>
                    <a:pt x="44471" y="0"/>
                  </a:moveTo>
                  <a:lnTo>
                    <a:pt x="732539" y="0"/>
                  </a:lnTo>
                  <a:cubicBezTo>
                    <a:pt x="744333" y="0"/>
                    <a:pt x="755645" y="4685"/>
                    <a:pt x="763985" y="13025"/>
                  </a:cubicBezTo>
                  <a:cubicBezTo>
                    <a:pt x="772325" y="21365"/>
                    <a:pt x="777010" y="32677"/>
                    <a:pt x="777010" y="44471"/>
                  </a:cubicBezTo>
                  <a:lnTo>
                    <a:pt x="777010" y="1158462"/>
                  </a:lnTo>
                  <a:cubicBezTo>
                    <a:pt x="777010" y="1183023"/>
                    <a:pt x="757100" y="1202934"/>
                    <a:pt x="732539" y="1202934"/>
                  </a:cubicBezTo>
                  <a:lnTo>
                    <a:pt x="44471" y="1202934"/>
                  </a:lnTo>
                  <a:cubicBezTo>
                    <a:pt x="19910" y="1202934"/>
                    <a:pt x="0" y="1183023"/>
                    <a:pt x="0" y="1158462"/>
                  </a:cubicBezTo>
                  <a:lnTo>
                    <a:pt x="0" y="44471"/>
                  </a:lnTo>
                  <a:cubicBezTo>
                    <a:pt x="0" y="19910"/>
                    <a:pt x="19910" y="0"/>
                    <a:pt x="44471" y="0"/>
                  </a:cubicBezTo>
                  <a:close/>
                </a:path>
              </a:pathLst>
            </a:custGeom>
            <a:blipFill>
              <a:blip r:embed="rId9"/>
              <a:stretch>
                <a:fillRect l="-218" t="0" r="-21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15083" y="-1349784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27967" y="542664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1" y="0"/>
                </a:lnTo>
                <a:lnTo>
                  <a:pt x="1623231" y="1708217"/>
                </a:lnTo>
                <a:lnTo>
                  <a:pt x="0" y="1708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80078" y="2732198"/>
            <a:ext cx="6030632" cy="145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2"/>
              </a:lnSpc>
            </a:pPr>
            <a:r>
              <a:rPr lang="en-US" sz="5122" spc="-281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Kubernetes Manifest Validation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3588" y="6286058"/>
            <a:ext cx="4796077" cy="171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4"/>
              </a:lnSpc>
            </a:pPr>
            <a:r>
              <a:rPr lang="en-US" sz="1653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Users write Kubernetes YAML manifests directly in the platform. Syntax checking and best-practice enforcement catch errors instantly. Validated manifests trigger simulated deployments, giving real Kubernetes workflow experience without a live cluster.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20047" y="5312233"/>
            <a:ext cx="4085104" cy="8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Write, Validate &amp; Deploy YAML Manifests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99999">
            <a:off x="11217882" y="3166286"/>
            <a:ext cx="10213826" cy="3881254"/>
          </a:xfrm>
          <a:custGeom>
            <a:avLst/>
            <a:gdLst/>
            <a:ahLst/>
            <a:cxnLst/>
            <a:rect r="r" b="b" t="t" l="l"/>
            <a:pathLst>
              <a:path h="3881254" w="10213826">
                <a:moveTo>
                  <a:pt x="0" y="0"/>
                </a:moveTo>
                <a:lnTo>
                  <a:pt x="10213826" y="0"/>
                </a:lnTo>
                <a:lnTo>
                  <a:pt x="10213826" y="3881254"/>
                </a:lnTo>
                <a:lnTo>
                  <a:pt x="0" y="3881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23174" y="1679530"/>
            <a:ext cx="7428315" cy="4495508"/>
            <a:chOff x="0" y="0"/>
            <a:chExt cx="1106640" cy="66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6640" cy="669723"/>
            </a:xfrm>
            <a:custGeom>
              <a:avLst/>
              <a:gdLst/>
              <a:ahLst/>
              <a:cxnLst/>
              <a:rect r="r" b="b" t="t" l="l"/>
              <a:pathLst>
                <a:path h="669723" w="1106640">
                  <a:moveTo>
                    <a:pt x="36478" y="0"/>
                  </a:moveTo>
                  <a:lnTo>
                    <a:pt x="1070163" y="0"/>
                  </a:lnTo>
                  <a:cubicBezTo>
                    <a:pt x="1090309" y="0"/>
                    <a:pt x="1106640" y="16332"/>
                    <a:pt x="1106640" y="36478"/>
                  </a:cubicBezTo>
                  <a:lnTo>
                    <a:pt x="1106640" y="633245"/>
                  </a:lnTo>
                  <a:cubicBezTo>
                    <a:pt x="1106640" y="642920"/>
                    <a:pt x="1102797" y="652198"/>
                    <a:pt x="1095956" y="659039"/>
                  </a:cubicBezTo>
                  <a:cubicBezTo>
                    <a:pt x="1089116" y="665880"/>
                    <a:pt x="1079837" y="669723"/>
                    <a:pt x="1070163" y="669723"/>
                  </a:cubicBezTo>
                  <a:lnTo>
                    <a:pt x="36478" y="669723"/>
                  </a:lnTo>
                  <a:cubicBezTo>
                    <a:pt x="16332" y="669723"/>
                    <a:pt x="0" y="653391"/>
                    <a:pt x="0" y="633245"/>
                  </a:cubicBezTo>
                  <a:lnTo>
                    <a:pt x="0" y="36478"/>
                  </a:lnTo>
                  <a:cubicBezTo>
                    <a:pt x="0" y="16332"/>
                    <a:pt x="16332" y="0"/>
                    <a:pt x="36478" y="0"/>
                  </a:cubicBezTo>
                  <a:close/>
                </a:path>
              </a:pathLst>
            </a:custGeom>
            <a:blipFill>
              <a:blip r:embed="rId4"/>
              <a:stretch>
                <a:fillRect l="-3794" t="0" r="-379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55523" y="5178783"/>
            <a:ext cx="5550517" cy="4169374"/>
            <a:chOff x="0" y="0"/>
            <a:chExt cx="859920" cy="6459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9920" cy="645945"/>
            </a:xfrm>
            <a:custGeom>
              <a:avLst/>
              <a:gdLst/>
              <a:ahLst/>
              <a:cxnLst/>
              <a:rect r="r" b="b" t="t" l="l"/>
              <a:pathLst>
                <a:path h="645945" w="859920">
                  <a:moveTo>
                    <a:pt x="48818" y="0"/>
                  </a:moveTo>
                  <a:lnTo>
                    <a:pt x="811102" y="0"/>
                  </a:lnTo>
                  <a:cubicBezTo>
                    <a:pt x="838064" y="0"/>
                    <a:pt x="859920" y="21857"/>
                    <a:pt x="859920" y="48818"/>
                  </a:cubicBezTo>
                  <a:lnTo>
                    <a:pt x="859920" y="597127"/>
                  </a:lnTo>
                  <a:cubicBezTo>
                    <a:pt x="859920" y="610074"/>
                    <a:pt x="854777" y="622491"/>
                    <a:pt x="845622" y="631647"/>
                  </a:cubicBezTo>
                  <a:cubicBezTo>
                    <a:pt x="836467" y="640802"/>
                    <a:pt x="824049" y="645945"/>
                    <a:pt x="811102" y="645945"/>
                  </a:cubicBezTo>
                  <a:lnTo>
                    <a:pt x="48818" y="645945"/>
                  </a:lnTo>
                  <a:cubicBezTo>
                    <a:pt x="35871" y="645945"/>
                    <a:pt x="23454" y="640802"/>
                    <a:pt x="14299" y="631647"/>
                  </a:cubicBezTo>
                  <a:cubicBezTo>
                    <a:pt x="5143" y="622491"/>
                    <a:pt x="0" y="610074"/>
                    <a:pt x="0" y="597127"/>
                  </a:cubicBezTo>
                  <a:lnTo>
                    <a:pt x="0" y="48818"/>
                  </a:lnTo>
                  <a:cubicBezTo>
                    <a:pt x="0" y="35871"/>
                    <a:pt x="5143" y="23454"/>
                    <a:pt x="14299" y="14299"/>
                  </a:cubicBezTo>
                  <a:cubicBezTo>
                    <a:pt x="23454" y="5143"/>
                    <a:pt x="35871" y="0"/>
                    <a:pt x="4881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" r="0" b="-5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544850" y="6519420"/>
            <a:ext cx="6222615" cy="2996414"/>
            <a:chOff x="0" y="0"/>
            <a:chExt cx="1544569" cy="7437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4569" cy="743766"/>
            </a:xfrm>
            <a:custGeom>
              <a:avLst/>
              <a:gdLst/>
              <a:ahLst/>
              <a:cxnLst/>
              <a:rect r="r" b="b" t="t" l="l"/>
              <a:pathLst>
                <a:path h="743766" w="1544569">
                  <a:moveTo>
                    <a:pt x="37325" y="0"/>
                  </a:moveTo>
                  <a:lnTo>
                    <a:pt x="1507244" y="0"/>
                  </a:lnTo>
                  <a:cubicBezTo>
                    <a:pt x="1517143" y="0"/>
                    <a:pt x="1526637" y="3932"/>
                    <a:pt x="1533637" y="10932"/>
                  </a:cubicBezTo>
                  <a:cubicBezTo>
                    <a:pt x="1540637" y="17932"/>
                    <a:pt x="1544569" y="27426"/>
                    <a:pt x="1544569" y="37325"/>
                  </a:cubicBezTo>
                  <a:lnTo>
                    <a:pt x="1544569" y="706441"/>
                  </a:lnTo>
                  <a:cubicBezTo>
                    <a:pt x="1544569" y="727055"/>
                    <a:pt x="1527858" y="743766"/>
                    <a:pt x="1507244" y="743766"/>
                  </a:cubicBezTo>
                  <a:lnTo>
                    <a:pt x="37325" y="743766"/>
                  </a:lnTo>
                  <a:cubicBezTo>
                    <a:pt x="27426" y="743766"/>
                    <a:pt x="17932" y="739833"/>
                    <a:pt x="10932" y="732833"/>
                  </a:cubicBezTo>
                  <a:cubicBezTo>
                    <a:pt x="3932" y="725834"/>
                    <a:pt x="0" y="716340"/>
                    <a:pt x="0" y="706441"/>
                  </a:cubicBezTo>
                  <a:lnTo>
                    <a:pt x="0" y="37325"/>
                  </a:lnTo>
                  <a:cubicBezTo>
                    <a:pt x="0" y="16711"/>
                    <a:pt x="16711" y="0"/>
                    <a:pt x="37325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44569" cy="791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856743" y="5178783"/>
            <a:ext cx="945537" cy="945537"/>
          </a:xfrm>
          <a:custGeom>
            <a:avLst/>
            <a:gdLst/>
            <a:ahLst/>
            <a:cxnLst/>
            <a:rect r="r" b="b" t="t" l="l"/>
            <a:pathLst>
              <a:path h="945537" w="945537">
                <a:moveTo>
                  <a:pt x="0" y="0"/>
                </a:moveTo>
                <a:lnTo>
                  <a:pt x="945536" y="0"/>
                </a:lnTo>
                <a:lnTo>
                  <a:pt x="945536" y="945536"/>
                </a:lnTo>
                <a:lnTo>
                  <a:pt x="0" y="945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56743" y="1804562"/>
            <a:ext cx="6016354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Load Balancer Simulation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514350" y="7715250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79047" y="7263470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087558" y="-185525"/>
            <a:ext cx="3659308" cy="2428450"/>
          </a:xfrm>
          <a:custGeom>
            <a:avLst/>
            <a:gdLst/>
            <a:ahLst/>
            <a:cxnLst/>
            <a:rect r="r" b="b" t="t" l="l"/>
            <a:pathLst>
              <a:path h="2428450" w="3659308">
                <a:moveTo>
                  <a:pt x="0" y="0"/>
                </a:moveTo>
                <a:lnTo>
                  <a:pt x="3659308" y="0"/>
                </a:lnTo>
                <a:lnTo>
                  <a:pt x="3659308" y="2428450"/>
                </a:lnTo>
                <a:lnTo>
                  <a:pt x="0" y="2428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56743" y="2678474"/>
            <a:ext cx="5828741" cy="191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Traffic Distribution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91065" y="6794500"/>
            <a:ext cx="5368235" cy="234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1"/>
              </a:lnSpc>
            </a:pPr>
            <a:r>
              <a:rPr lang="en-US" sz="222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Round-robin traffic distribution routes requests evenly across running containers. Real-time logs capture every routing decision, providing transparent visibility into load balancing behavior and container health.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554276" y="3220708"/>
            <a:ext cx="13747630" cy="5224099"/>
          </a:xfrm>
          <a:custGeom>
            <a:avLst/>
            <a:gdLst/>
            <a:ahLst/>
            <a:cxnLst/>
            <a:rect r="r" b="b" t="t" l="l"/>
            <a:pathLst>
              <a:path h="5224099" w="13747630">
                <a:moveTo>
                  <a:pt x="0" y="0"/>
                </a:moveTo>
                <a:lnTo>
                  <a:pt x="13747630" y="0"/>
                </a:lnTo>
                <a:lnTo>
                  <a:pt x="13747630" y="5224099"/>
                </a:lnTo>
                <a:lnTo>
                  <a:pt x="0" y="5224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48773" y="8237577"/>
            <a:ext cx="3088172" cy="2049423"/>
          </a:xfrm>
          <a:custGeom>
            <a:avLst/>
            <a:gdLst/>
            <a:ahLst/>
            <a:cxnLst/>
            <a:rect r="r" b="b" t="t" l="l"/>
            <a:pathLst>
              <a:path h="2049423" w="3088172">
                <a:moveTo>
                  <a:pt x="0" y="0"/>
                </a:moveTo>
                <a:lnTo>
                  <a:pt x="3088172" y="0"/>
                </a:lnTo>
                <a:lnTo>
                  <a:pt x="3088172" y="2049423"/>
                </a:lnTo>
                <a:lnTo>
                  <a:pt x="0" y="204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006" y="1032688"/>
            <a:ext cx="9505467" cy="8229600"/>
            <a:chOff x="0" y="0"/>
            <a:chExt cx="2897567" cy="25086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97567" cy="2508642"/>
            </a:xfrm>
            <a:custGeom>
              <a:avLst/>
              <a:gdLst/>
              <a:ahLst/>
              <a:cxnLst/>
              <a:rect r="r" b="b" t="t" l="l"/>
              <a:pathLst>
                <a:path h="2508642" w="2897567">
                  <a:moveTo>
                    <a:pt x="20362" y="0"/>
                  </a:moveTo>
                  <a:lnTo>
                    <a:pt x="2877205" y="0"/>
                  </a:lnTo>
                  <a:cubicBezTo>
                    <a:pt x="2888450" y="0"/>
                    <a:pt x="2897567" y="9116"/>
                    <a:pt x="2897567" y="20362"/>
                  </a:cubicBezTo>
                  <a:lnTo>
                    <a:pt x="2897567" y="2488280"/>
                  </a:lnTo>
                  <a:cubicBezTo>
                    <a:pt x="2897567" y="2493681"/>
                    <a:pt x="2895421" y="2498860"/>
                    <a:pt x="2891603" y="2502678"/>
                  </a:cubicBezTo>
                  <a:cubicBezTo>
                    <a:pt x="2887784" y="2506497"/>
                    <a:pt x="2882605" y="2508642"/>
                    <a:pt x="2877205" y="2508642"/>
                  </a:cubicBezTo>
                  <a:lnTo>
                    <a:pt x="20362" y="2508642"/>
                  </a:lnTo>
                  <a:cubicBezTo>
                    <a:pt x="14961" y="2508642"/>
                    <a:pt x="9782" y="2506497"/>
                    <a:pt x="5964" y="2502678"/>
                  </a:cubicBezTo>
                  <a:cubicBezTo>
                    <a:pt x="2145" y="2498860"/>
                    <a:pt x="0" y="2493681"/>
                    <a:pt x="0" y="2488280"/>
                  </a:cubicBezTo>
                  <a:lnTo>
                    <a:pt x="0" y="20362"/>
                  </a:lnTo>
                  <a:cubicBezTo>
                    <a:pt x="0" y="14961"/>
                    <a:pt x="2145" y="9782"/>
                    <a:pt x="5964" y="5964"/>
                  </a:cubicBezTo>
                  <a:cubicBezTo>
                    <a:pt x="9782" y="2145"/>
                    <a:pt x="14961" y="0"/>
                    <a:pt x="20362" y="0"/>
                  </a:cubicBezTo>
                  <a:close/>
                </a:path>
              </a:pathLst>
            </a:custGeom>
            <a:blipFill>
              <a:blip r:embed="rId6"/>
              <a:stretch>
                <a:fillRect l="-26957" t="0" r="-2695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56495" y="5143500"/>
            <a:ext cx="3761670" cy="4114800"/>
            <a:chOff x="0" y="0"/>
            <a:chExt cx="1146676" cy="1254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6676" cy="1254321"/>
            </a:xfrm>
            <a:custGeom>
              <a:avLst/>
              <a:gdLst/>
              <a:ahLst/>
              <a:cxnLst/>
              <a:rect r="r" b="b" t="t" l="l"/>
              <a:pathLst>
                <a:path h="1254321" w="1146676">
                  <a:moveTo>
                    <a:pt x="51453" y="0"/>
                  </a:moveTo>
                  <a:lnTo>
                    <a:pt x="1095223" y="0"/>
                  </a:lnTo>
                  <a:cubicBezTo>
                    <a:pt x="1123640" y="0"/>
                    <a:pt x="1146676" y="23036"/>
                    <a:pt x="1146676" y="51453"/>
                  </a:cubicBezTo>
                  <a:lnTo>
                    <a:pt x="1146676" y="1202868"/>
                  </a:lnTo>
                  <a:cubicBezTo>
                    <a:pt x="1146676" y="1216514"/>
                    <a:pt x="1141255" y="1229602"/>
                    <a:pt x="1131606" y="1239251"/>
                  </a:cubicBezTo>
                  <a:cubicBezTo>
                    <a:pt x="1121956" y="1248900"/>
                    <a:pt x="1108869" y="1254321"/>
                    <a:pt x="1095223" y="1254321"/>
                  </a:cubicBezTo>
                  <a:lnTo>
                    <a:pt x="51453" y="1254321"/>
                  </a:lnTo>
                  <a:cubicBezTo>
                    <a:pt x="23036" y="1254321"/>
                    <a:pt x="0" y="1231285"/>
                    <a:pt x="0" y="1202868"/>
                  </a:cubicBezTo>
                  <a:lnTo>
                    <a:pt x="0" y="51453"/>
                  </a:lnTo>
                  <a:cubicBezTo>
                    <a:pt x="0" y="23036"/>
                    <a:pt x="23036" y="0"/>
                    <a:pt x="5145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3" r="0" b="-2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15552" y="5147488"/>
            <a:ext cx="3761670" cy="4114800"/>
            <a:chOff x="0" y="0"/>
            <a:chExt cx="1146676" cy="1254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6676" cy="1254321"/>
            </a:xfrm>
            <a:custGeom>
              <a:avLst/>
              <a:gdLst/>
              <a:ahLst/>
              <a:cxnLst/>
              <a:rect r="r" b="b" t="t" l="l"/>
              <a:pathLst>
                <a:path h="1254321" w="1146676">
                  <a:moveTo>
                    <a:pt x="51453" y="0"/>
                  </a:moveTo>
                  <a:lnTo>
                    <a:pt x="1095223" y="0"/>
                  </a:lnTo>
                  <a:cubicBezTo>
                    <a:pt x="1123640" y="0"/>
                    <a:pt x="1146676" y="23036"/>
                    <a:pt x="1146676" y="51453"/>
                  </a:cubicBezTo>
                  <a:lnTo>
                    <a:pt x="1146676" y="1202868"/>
                  </a:lnTo>
                  <a:cubicBezTo>
                    <a:pt x="1146676" y="1216514"/>
                    <a:pt x="1141255" y="1229602"/>
                    <a:pt x="1131606" y="1239251"/>
                  </a:cubicBezTo>
                  <a:cubicBezTo>
                    <a:pt x="1121956" y="1248900"/>
                    <a:pt x="1108869" y="1254321"/>
                    <a:pt x="1095223" y="1254321"/>
                  </a:cubicBezTo>
                  <a:lnTo>
                    <a:pt x="51453" y="1254321"/>
                  </a:lnTo>
                  <a:cubicBezTo>
                    <a:pt x="23036" y="1254321"/>
                    <a:pt x="0" y="1231285"/>
                    <a:pt x="0" y="1202868"/>
                  </a:cubicBezTo>
                  <a:lnTo>
                    <a:pt x="0" y="51453"/>
                  </a:lnTo>
                  <a:cubicBezTo>
                    <a:pt x="0" y="23036"/>
                    <a:pt x="23036" y="0"/>
                    <a:pt x="5145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23" r="0" b="-2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13126" y="6204582"/>
            <a:ext cx="7289049" cy="1992635"/>
            <a:chOff x="0" y="0"/>
            <a:chExt cx="1919749" cy="5248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9749" cy="524809"/>
            </a:xfrm>
            <a:custGeom>
              <a:avLst/>
              <a:gdLst/>
              <a:ahLst/>
              <a:cxnLst/>
              <a:rect r="r" b="b" t="t" l="l"/>
              <a:pathLst>
                <a:path h="524809" w="1919749">
                  <a:moveTo>
                    <a:pt x="21243" y="0"/>
                  </a:moveTo>
                  <a:lnTo>
                    <a:pt x="1898507" y="0"/>
                  </a:lnTo>
                  <a:cubicBezTo>
                    <a:pt x="1910239" y="0"/>
                    <a:pt x="1919749" y="9511"/>
                    <a:pt x="1919749" y="21243"/>
                  </a:cubicBezTo>
                  <a:lnTo>
                    <a:pt x="1919749" y="503567"/>
                  </a:lnTo>
                  <a:cubicBezTo>
                    <a:pt x="1919749" y="515299"/>
                    <a:pt x="1910239" y="524809"/>
                    <a:pt x="1898507" y="524809"/>
                  </a:cubicBezTo>
                  <a:lnTo>
                    <a:pt x="21243" y="524809"/>
                  </a:lnTo>
                  <a:cubicBezTo>
                    <a:pt x="9511" y="524809"/>
                    <a:pt x="0" y="515299"/>
                    <a:pt x="0" y="503567"/>
                  </a:cubicBezTo>
                  <a:lnTo>
                    <a:pt x="0" y="21243"/>
                  </a:lnTo>
                  <a:cubicBezTo>
                    <a:pt x="0" y="9511"/>
                    <a:pt x="9511" y="0"/>
                    <a:pt x="21243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19749" cy="572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592859" y="-514350"/>
            <a:ext cx="2709943" cy="270994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937330" y="607186"/>
            <a:ext cx="1339220" cy="1409336"/>
          </a:xfrm>
          <a:custGeom>
            <a:avLst/>
            <a:gdLst/>
            <a:ahLst/>
            <a:cxnLst/>
            <a:rect r="r" b="b" t="t" l="l"/>
            <a:pathLst>
              <a:path h="1409336" w="1339220">
                <a:moveTo>
                  <a:pt x="0" y="0"/>
                </a:moveTo>
                <a:lnTo>
                  <a:pt x="1339220" y="0"/>
                </a:lnTo>
                <a:lnTo>
                  <a:pt x="1339220" y="1409337"/>
                </a:lnTo>
                <a:lnTo>
                  <a:pt x="0" y="14093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53474" y="2417393"/>
            <a:ext cx="6283856" cy="191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Learn, Earn &amp; Level Up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56069" y="6483350"/>
            <a:ext cx="6638199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Academic-style report cards track module completion. Earn achievement badges: Docker Pilot, K8s Captain, and YAML Master. Full score history and progress analytics keep learners motivated and on track.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3474" y="1789828"/>
            <a:ext cx="628385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Progress Tracking &amp; Gamification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330495"/>
            <a:chOff x="0" y="0"/>
            <a:chExt cx="2833290" cy="825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825833"/>
            </a:xfrm>
            <a:custGeom>
              <a:avLst/>
              <a:gdLst/>
              <a:ahLst/>
              <a:cxnLst/>
              <a:rect r="r" b="b" t="t" l="l"/>
              <a:pathLst>
                <a:path h="82583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825833"/>
                  </a:lnTo>
                  <a:lnTo>
                    <a:pt x="0" y="825833"/>
                  </a:lnTo>
                  <a:close/>
                </a:path>
              </a:pathLst>
            </a:custGeom>
            <a:blipFill>
              <a:blip r:embed="rId2"/>
              <a:stretch>
                <a:fillRect l="0" t="-390" r="0" b="-3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89577" y="3702881"/>
            <a:ext cx="5154498" cy="5140148"/>
            <a:chOff x="0" y="0"/>
            <a:chExt cx="1357563" cy="13537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7563" cy="1353784"/>
            </a:xfrm>
            <a:custGeom>
              <a:avLst/>
              <a:gdLst/>
              <a:ahLst/>
              <a:cxnLst/>
              <a:rect r="r" b="b" t="t" l="l"/>
              <a:pathLst>
                <a:path h="1353784" w="1357563">
                  <a:moveTo>
                    <a:pt x="0" y="0"/>
                  </a:moveTo>
                  <a:lnTo>
                    <a:pt x="1357563" y="0"/>
                  </a:lnTo>
                  <a:lnTo>
                    <a:pt x="1357563" y="1353784"/>
                  </a:lnTo>
                  <a:lnTo>
                    <a:pt x="0" y="1353784"/>
                  </a:ln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57563" cy="1401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35002" y="4030360"/>
            <a:ext cx="4338537" cy="2133370"/>
            <a:chOff x="0" y="0"/>
            <a:chExt cx="707961" cy="3481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7961" cy="348123"/>
            </a:xfrm>
            <a:custGeom>
              <a:avLst/>
              <a:gdLst/>
              <a:ahLst/>
              <a:cxnLst/>
              <a:rect r="r" b="b" t="t" l="l"/>
              <a:pathLst>
                <a:path h="348123" w="707961">
                  <a:moveTo>
                    <a:pt x="0" y="0"/>
                  </a:moveTo>
                  <a:lnTo>
                    <a:pt x="707961" y="0"/>
                  </a:lnTo>
                  <a:lnTo>
                    <a:pt x="707961" y="348123"/>
                  </a:lnTo>
                  <a:lnTo>
                    <a:pt x="0" y="348123"/>
                  </a:lnTo>
                  <a:close/>
                </a:path>
              </a:pathLst>
            </a:custGeom>
            <a:blipFill>
              <a:blip r:embed="rId3"/>
              <a:stretch>
                <a:fillRect l="0" t="-332" r="0" b="-33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02548" y="6927233"/>
            <a:ext cx="6829010" cy="86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9"/>
              </a:lnSpc>
            </a:pPr>
            <a:r>
              <a:rPr lang="en-US" sz="5549" spc="-305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Interactive Terminal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2548" y="6259386"/>
            <a:ext cx="5654814" cy="3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2"/>
              </a:lnSpc>
            </a:pPr>
            <a:r>
              <a:rPr lang="en-US" b="true" sz="2059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Feature 05 — User Interface &amp; Interaction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74354" y="8452918"/>
            <a:ext cx="2611498" cy="1739911"/>
          </a:xfrm>
          <a:custGeom>
            <a:avLst/>
            <a:gdLst/>
            <a:ahLst/>
            <a:cxnLst/>
            <a:rect r="r" b="b" t="t" l="l"/>
            <a:pathLst>
              <a:path h="1739911" w="2611498">
                <a:moveTo>
                  <a:pt x="0" y="0"/>
                </a:moveTo>
                <a:lnTo>
                  <a:pt x="2611498" y="0"/>
                </a:lnTo>
                <a:lnTo>
                  <a:pt x="2611498" y="1739910"/>
                </a:lnTo>
                <a:lnTo>
                  <a:pt x="0" y="1739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235002" y="6388753"/>
            <a:ext cx="4621404" cy="18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2"/>
              </a:lnSpc>
            </a:pPr>
            <a:r>
              <a:rPr lang="en-US" sz="171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Built with XTerm.js, the web terminal delivers a real CLI experience in the browser. Run Docker commands (run, stop, start, delete), apply Kubernetes manifests, and paste YAML directly for instant deployment simulation — no local setup required.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983552" y="8290578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90932" y="8125410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2022" y="8035483"/>
            <a:ext cx="4024201" cy="2670606"/>
          </a:xfrm>
          <a:custGeom>
            <a:avLst/>
            <a:gdLst/>
            <a:ahLst/>
            <a:cxnLst/>
            <a:rect r="r" b="b" t="t" l="l"/>
            <a:pathLst>
              <a:path h="2670606" w="4024201">
                <a:moveTo>
                  <a:pt x="0" y="0"/>
                </a:moveTo>
                <a:lnTo>
                  <a:pt x="4024201" y="0"/>
                </a:lnTo>
                <a:lnTo>
                  <a:pt x="4024201" y="2670606"/>
                </a:lnTo>
                <a:lnTo>
                  <a:pt x="0" y="267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2052" y="5099198"/>
            <a:ext cx="5456410" cy="3163159"/>
            <a:chOff x="0" y="0"/>
            <a:chExt cx="1354383" cy="7851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4383" cy="785155"/>
            </a:xfrm>
            <a:custGeom>
              <a:avLst/>
              <a:gdLst/>
              <a:ahLst/>
              <a:cxnLst/>
              <a:rect r="r" b="b" t="t" l="l"/>
              <a:pathLst>
                <a:path h="785155" w="1354383">
                  <a:moveTo>
                    <a:pt x="34053" y="0"/>
                  </a:moveTo>
                  <a:lnTo>
                    <a:pt x="1320330" y="0"/>
                  </a:lnTo>
                  <a:cubicBezTo>
                    <a:pt x="1329361" y="0"/>
                    <a:pt x="1338023" y="3588"/>
                    <a:pt x="1344409" y="9974"/>
                  </a:cubicBezTo>
                  <a:cubicBezTo>
                    <a:pt x="1350795" y="16360"/>
                    <a:pt x="1354383" y="25021"/>
                    <a:pt x="1354383" y="34053"/>
                  </a:cubicBezTo>
                  <a:lnTo>
                    <a:pt x="1354383" y="751102"/>
                  </a:lnTo>
                  <a:cubicBezTo>
                    <a:pt x="1354383" y="769909"/>
                    <a:pt x="1339137" y="785155"/>
                    <a:pt x="1320330" y="785155"/>
                  </a:cubicBezTo>
                  <a:lnTo>
                    <a:pt x="34053" y="785155"/>
                  </a:lnTo>
                  <a:cubicBezTo>
                    <a:pt x="15246" y="785155"/>
                    <a:pt x="0" y="769909"/>
                    <a:pt x="0" y="751102"/>
                  </a:cubicBezTo>
                  <a:lnTo>
                    <a:pt x="0" y="34053"/>
                  </a:lnTo>
                  <a:cubicBezTo>
                    <a:pt x="0" y="25021"/>
                    <a:pt x="3588" y="16360"/>
                    <a:pt x="9974" y="9974"/>
                  </a:cubicBezTo>
                  <a:cubicBezTo>
                    <a:pt x="16360" y="3588"/>
                    <a:pt x="25021" y="0"/>
                    <a:pt x="34053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54383" cy="832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23588" y="5526677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399999">
            <a:off x="7766969" y="4105906"/>
            <a:ext cx="15109371" cy="5741561"/>
          </a:xfrm>
          <a:custGeom>
            <a:avLst/>
            <a:gdLst/>
            <a:ahLst/>
            <a:cxnLst/>
            <a:rect r="r" b="b" t="t" l="l"/>
            <a:pathLst>
              <a:path h="5741561" w="15109371">
                <a:moveTo>
                  <a:pt x="0" y="0"/>
                </a:moveTo>
                <a:lnTo>
                  <a:pt x="15109371" y="0"/>
                </a:lnTo>
                <a:lnTo>
                  <a:pt x="15109371" y="5741561"/>
                </a:lnTo>
                <a:lnTo>
                  <a:pt x="0" y="5741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058506" y="2250881"/>
            <a:ext cx="4526297" cy="7007419"/>
            <a:chOff x="0" y="0"/>
            <a:chExt cx="777010" cy="1202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7010" cy="1202934"/>
            </a:xfrm>
            <a:custGeom>
              <a:avLst/>
              <a:gdLst/>
              <a:ahLst/>
              <a:cxnLst/>
              <a:rect r="r" b="b" t="t" l="l"/>
              <a:pathLst>
                <a:path h="1202934" w="777010">
                  <a:moveTo>
                    <a:pt x="42761" y="0"/>
                  </a:moveTo>
                  <a:lnTo>
                    <a:pt x="734249" y="0"/>
                  </a:lnTo>
                  <a:cubicBezTo>
                    <a:pt x="745590" y="0"/>
                    <a:pt x="756466" y="4505"/>
                    <a:pt x="764486" y="12524"/>
                  </a:cubicBezTo>
                  <a:cubicBezTo>
                    <a:pt x="772505" y="20544"/>
                    <a:pt x="777010" y="31420"/>
                    <a:pt x="777010" y="42761"/>
                  </a:cubicBezTo>
                  <a:lnTo>
                    <a:pt x="777010" y="1160173"/>
                  </a:lnTo>
                  <a:cubicBezTo>
                    <a:pt x="777010" y="1183789"/>
                    <a:pt x="757865" y="1202934"/>
                    <a:pt x="734249" y="1202934"/>
                  </a:cubicBezTo>
                  <a:lnTo>
                    <a:pt x="42761" y="1202934"/>
                  </a:lnTo>
                  <a:cubicBezTo>
                    <a:pt x="19145" y="1202934"/>
                    <a:pt x="0" y="1183789"/>
                    <a:pt x="0" y="1160173"/>
                  </a:cubicBezTo>
                  <a:lnTo>
                    <a:pt x="0" y="42761"/>
                  </a:lnTo>
                  <a:cubicBezTo>
                    <a:pt x="0" y="19145"/>
                    <a:pt x="19145" y="0"/>
                    <a:pt x="42761" y="0"/>
                  </a:cubicBezTo>
                  <a:close/>
                </a:path>
              </a:pathLst>
            </a:custGeom>
            <a:blipFill>
              <a:blip r:embed="rId8"/>
              <a:stretch>
                <a:fillRect l="-218" t="0" r="-21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61102" y="2250881"/>
            <a:ext cx="4526297" cy="7007419"/>
            <a:chOff x="0" y="0"/>
            <a:chExt cx="777010" cy="1202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7010" cy="1202934"/>
            </a:xfrm>
            <a:custGeom>
              <a:avLst/>
              <a:gdLst/>
              <a:ahLst/>
              <a:cxnLst/>
              <a:rect r="r" b="b" t="t" l="l"/>
              <a:pathLst>
                <a:path h="1202934" w="777010">
                  <a:moveTo>
                    <a:pt x="44471" y="0"/>
                  </a:moveTo>
                  <a:lnTo>
                    <a:pt x="732539" y="0"/>
                  </a:lnTo>
                  <a:cubicBezTo>
                    <a:pt x="744333" y="0"/>
                    <a:pt x="755645" y="4685"/>
                    <a:pt x="763985" y="13025"/>
                  </a:cubicBezTo>
                  <a:cubicBezTo>
                    <a:pt x="772325" y="21365"/>
                    <a:pt x="777010" y="32677"/>
                    <a:pt x="777010" y="44471"/>
                  </a:cubicBezTo>
                  <a:lnTo>
                    <a:pt x="777010" y="1158462"/>
                  </a:lnTo>
                  <a:cubicBezTo>
                    <a:pt x="777010" y="1183023"/>
                    <a:pt x="757100" y="1202934"/>
                    <a:pt x="732539" y="1202934"/>
                  </a:cubicBezTo>
                  <a:lnTo>
                    <a:pt x="44471" y="1202934"/>
                  </a:lnTo>
                  <a:cubicBezTo>
                    <a:pt x="19910" y="1202934"/>
                    <a:pt x="0" y="1183023"/>
                    <a:pt x="0" y="1158462"/>
                  </a:cubicBezTo>
                  <a:lnTo>
                    <a:pt x="0" y="44471"/>
                  </a:lnTo>
                  <a:cubicBezTo>
                    <a:pt x="0" y="19910"/>
                    <a:pt x="19910" y="0"/>
                    <a:pt x="44471" y="0"/>
                  </a:cubicBezTo>
                  <a:close/>
                </a:path>
              </a:pathLst>
            </a:custGeom>
            <a:blipFill>
              <a:blip r:embed="rId9"/>
              <a:stretch>
                <a:fillRect l="-87613" t="0" r="-8761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15083" y="-1349784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27967" y="542664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1" y="0"/>
                </a:lnTo>
                <a:lnTo>
                  <a:pt x="1623231" y="1708217"/>
                </a:lnTo>
                <a:lnTo>
                  <a:pt x="0" y="1708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80078" y="2722673"/>
            <a:ext cx="6030632" cy="18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6"/>
              </a:lnSpc>
            </a:pPr>
            <a:r>
              <a:rPr lang="en-US" sz="6546" spc="-360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User Management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3588" y="6295583"/>
            <a:ext cx="4796077" cy="159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sz="1506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JWT-based authentication ensures secure, stateless sessions across all microservices. Password resets are handled via Brevo SMTP email service. Role-based access control supports student, instructor, and admin roles. Cohort management enables educators to group and track learners efficiently.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20047" y="5312233"/>
            <a:ext cx="4085104" cy="8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Security, Roles, and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02952">
            <a:off x="8937887" y="3103693"/>
            <a:ext cx="14172533" cy="5385562"/>
          </a:xfrm>
          <a:custGeom>
            <a:avLst/>
            <a:gdLst/>
            <a:ahLst/>
            <a:cxnLst/>
            <a:rect r="r" b="b" t="t" l="l"/>
            <a:pathLst>
              <a:path h="5385562" w="14172533">
                <a:moveTo>
                  <a:pt x="0" y="0"/>
                </a:moveTo>
                <a:lnTo>
                  <a:pt x="14172533" y="0"/>
                </a:lnTo>
                <a:lnTo>
                  <a:pt x="14172533" y="5385563"/>
                </a:lnTo>
                <a:lnTo>
                  <a:pt x="0" y="5385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56979" y="5353054"/>
            <a:ext cx="4809848" cy="3533613"/>
            <a:chOff x="0" y="0"/>
            <a:chExt cx="745171" cy="5474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5171" cy="547449"/>
            </a:xfrm>
            <a:custGeom>
              <a:avLst/>
              <a:gdLst/>
              <a:ahLst/>
              <a:cxnLst/>
              <a:rect r="r" b="b" t="t" l="l"/>
              <a:pathLst>
                <a:path h="547449" w="745171">
                  <a:moveTo>
                    <a:pt x="56336" y="0"/>
                  </a:moveTo>
                  <a:lnTo>
                    <a:pt x="688835" y="0"/>
                  </a:lnTo>
                  <a:cubicBezTo>
                    <a:pt x="703777" y="0"/>
                    <a:pt x="718106" y="5935"/>
                    <a:pt x="728671" y="16500"/>
                  </a:cubicBezTo>
                  <a:cubicBezTo>
                    <a:pt x="739236" y="27065"/>
                    <a:pt x="745171" y="41395"/>
                    <a:pt x="745171" y="56336"/>
                  </a:cubicBezTo>
                  <a:lnTo>
                    <a:pt x="745171" y="491113"/>
                  </a:lnTo>
                  <a:cubicBezTo>
                    <a:pt x="745171" y="506054"/>
                    <a:pt x="739236" y="520384"/>
                    <a:pt x="728671" y="530949"/>
                  </a:cubicBezTo>
                  <a:cubicBezTo>
                    <a:pt x="718106" y="541514"/>
                    <a:pt x="703777" y="547449"/>
                    <a:pt x="688835" y="547449"/>
                  </a:cubicBezTo>
                  <a:lnTo>
                    <a:pt x="56336" y="547449"/>
                  </a:lnTo>
                  <a:cubicBezTo>
                    <a:pt x="41395" y="547449"/>
                    <a:pt x="27065" y="541514"/>
                    <a:pt x="16500" y="530949"/>
                  </a:cubicBezTo>
                  <a:cubicBezTo>
                    <a:pt x="5935" y="520384"/>
                    <a:pt x="0" y="506054"/>
                    <a:pt x="0" y="491113"/>
                  </a:cubicBezTo>
                  <a:lnTo>
                    <a:pt x="0" y="56336"/>
                  </a:lnTo>
                  <a:cubicBezTo>
                    <a:pt x="0" y="41395"/>
                    <a:pt x="5935" y="27065"/>
                    <a:pt x="16500" y="16500"/>
                  </a:cubicBezTo>
                  <a:cubicBezTo>
                    <a:pt x="27065" y="5935"/>
                    <a:pt x="41395" y="0"/>
                    <a:pt x="56336" y="0"/>
                  </a:cubicBezTo>
                  <a:close/>
                </a:path>
              </a:pathLst>
            </a:custGeom>
            <a:blipFill>
              <a:blip r:embed="rId4"/>
              <a:stretch>
                <a:fillRect l="-62" t="0" r="-6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21173" y="1400333"/>
            <a:ext cx="4809848" cy="3214278"/>
            <a:chOff x="0" y="0"/>
            <a:chExt cx="745171" cy="497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171" cy="497976"/>
            </a:xfrm>
            <a:custGeom>
              <a:avLst/>
              <a:gdLst/>
              <a:ahLst/>
              <a:cxnLst/>
              <a:rect r="r" b="b" t="t" l="l"/>
              <a:pathLst>
                <a:path h="497976" w="745171">
                  <a:moveTo>
                    <a:pt x="56336" y="0"/>
                  </a:moveTo>
                  <a:lnTo>
                    <a:pt x="688835" y="0"/>
                  </a:lnTo>
                  <a:cubicBezTo>
                    <a:pt x="703777" y="0"/>
                    <a:pt x="718106" y="5935"/>
                    <a:pt x="728671" y="16500"/>
                  </a:cubicBezTo>
                  <a:cubicBezTo>
                    <a:pt x="739236" y="27065"/>
                    <a:pt x="745171" y="41395"/>
                    <a:pt x="745171" y="56336"/>
                  </a:cubicBezTo>
                  <a:lnTo>
                    <a:pt x="745171" y="441640"/>
                  </a:lnTo>
                  <a:cubicBezTo>
                    <a:pt x="745171" y="456581"/>
                    <a:pt x="739236" y="470910"/>
                    <a:pt x="728671" y="481475"/>
                  </a:cubicBezTo>
                  <a:cubicBezTo>
                    <a:pt x="718106" y="492040"/>
                    <a:pt x="703777" y="497976"/>
                    <a:pt x="688835" y="497976"/>
                  </a:cubicBezTo>
                  <a:lnTo>
                    <a:pt x="56336" y="497976"/>
                  </a:lnTo>
                  <a:cubicBezTo>
                    <a:pt x="41395" y="497976"/>
                    <a:pt x="27065" y="492040"/>
                    <a:pt x="16500" y="481475"/>
                  </a:cubicBezTo>
                  <a:cubicBezTo>
                    <a:pt x="5935" y="470910"/>
                    <a:pt x="0" y="456581"/>
                    <a:pt x="0" y="441640"/>
                  </a:cubicBezTo>
                  <a:lnTo>
                    <a:pt x="0" y="56336"/>
                  </a:lnTo>
                  <a:cubicBezTo>
                    <a:pt x="0" y="41395"/>
                    <a:pt x="5935" y="27065"/>
                    <a:pt x="16500" y="16500"/>
                  </a:cubicBezTo>
                  <a:cubicBezTo>
                    <a:pt x="27065" y="5935"/>
                    <a:pt x="41395" y="0"/>
                    <a:pt x="5633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10" r="0" b="-40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79775" y="1400333"/>
            <a:ext cx="4528451" cy="7486334"/>
            <a:chOff x="0" y="0"/>
            <a:chExt cx="701575" cy="11598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1575" cy="1159829"/>
            </a:xfrm>
            <a:custGeom>
              <a:avLst/>
              <a:gdLst/>
              <a:ahLst/>
              <a:cxnLst/>
              <a:rect r="r" b="b" t="t" l="l"/>
              <a:pathLst>
                <a:path h="1159829" w="701575">
                  <a:moveTo>
                    <a:pt x="59837" y="0"/>
                  </a:moveTo>
                  <a:lnTo>
                    <a:pt x="641739" y="0"/>
                  </a:lnTo>
                  <a:cubicBezTo>
                    <a:pt x="657609" y="0"/>
                    <a:pt x="672828" y="6304"/>
                    <a:pt x="684050" y="17526"/>
                  </a:cubicBezTo>
                  <a:cubicBezTo>
                    <a:pt x="695271" y="28747"/>
                    <a:pt x="701575" y="43967"/>
                    <a:pt x="701575" y="59837"/>
                  </a:cubicBezTo>
                  <a:lnTo>
                    <a:pt x="701575" y="1099992"/>
                  </a:lnTo>
                  <a:cubicBezTo>
                    <a:pt x="701575" y="1115862"/>
                    <a:pt x="695271" y="1131082"/>
                    <a:pt x="684050" y="1142303"/>
                  </a:cubicBezTo>
                  <a:cubicBezTo>
                    <a:pt x="672828" y="1153525"/>
                    <a:pt x="657609" y="1159829"/>
                    <a:pt x="641739" y="1159829"/>
                  </a:cubicBezTo>
                  <a:lnTo>
                    <a:pt x="59837" y="1159829"/>
                  </a:lnTo>
                  <a:cubicBezTo>
                    <a:pt x="43967" y="1159829"/>
                    <a:pt x="28747" y="1153525"/>
                    <a:pt x="17526" y="1142303"/>
                  </a:cubicBezTo>
                  <a:cubicBezTo>
                    <a:pt x="6304" y="1131082"/>
                    <a:pt x="0" y="1115862"/>
                    <a:pt x="0" y="1099992"/>
                  </a:cubicBezTo>
                  <a:lnTo>
                    <a:pt x="0" y="59837"/>
                  </a:lnTo>
                  <a:cubicBezTo>
                    <a:pt x="0" y="43967"/>
                    <a:pt x="6304" y="28747"/>
                    <a:pt x="17526" y="17526"/>
                  </a:cubicBezTo>
                  <a:cubicBezTo>
                    <a:pt x="28747" y="6304"/>
                    <a:pt x="43967" y="0"/>
                    <a:pt x="59837" y="0"/>
                  </a:cubicBezTo>
                  <a:close/>
                </a:path>
              </a:pathLst>
            </a:custGeom>
            <a:blipFill>
              <a:blip r:embed="rId6"/>
              <a:stretch>
                <a:fillRect l="-278" t="0" r="-2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197749" y="1663937"/>
            <a:ext cx="5456410" cy="3367867"/>
            <a:chOff x="0" y="0"/>
            <a:chExt cx="1354383" cy="8359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4383" cy="835967"/>
            </a:xfrm>
            <a:custGeom>
              <a:avLst/>
              <a:gdLst/>
              <a:ahLst/>
              <a:cxnLst/>
              <a:rect r="r" b="b" t="t" l="l"/>
              <a:pathLst>
                <a:path h="835967" w="1354383">
                  <a:moveTo>
                    <a:pt x="49660" y="0"/>
                  </a:moveTo>
                  <a:lnTo>
                    <a:pt x="1304722" y="0"/>
                  </a:lnTo>
                  <a:cubicBezTo>
                    <a:pt x="1317893" y="0"/>
                    <a:pt x="1330524" y="5232"/>
                    <a:pt x="1339837" y="14545"/>
                  </a:cubicBezTo>
                  <a:cubicBezTo>
                    <a:pt x="1349150" y="23858"/>
                    <a:pt x="1354383" y="36490"/>
                    <a:pt x="1354383" y="49660"/>
                  </a:cubicBezTo>
                  <a:lnTo>
                    <a:pt x="1354383" y="786307"/>
                  </a:lnTo>
                  <a:cubicBezTo>
                    <a:pt x="1354383" y="813734"/>
                    <a:pt x="1332149" y="835967"/>
                    <a:pt x="1304722" y="835967"/>
                  </a:cubicBezTo>
                  <a:lnTo>
                    <a:pt x="49660" y="835967"/>
                  </a:lnTo>
                  <a:cubicBezTo>
                    <a:pt x="36490" y="835967"/>
                    <a:pt x="23858" y="830735"/>
                    <a:pt x="14545" y="821422"/>
                  </a:cubicBezTo>
                  <a:cubicBezTo>
                    <a:pt x="5232" y="812109"/>
                    <a:pt x="0" y="799478"/>
                    <a:pt x="0" y="786307"/>
                  </a:cubicBezTo>
                  <a:lnTo>
                    <a:pt x="0" y="49660"/>
                  </a:lnTo>
                  <a:cubicBezTo>
                    <a:pt x="0" y="22234"/>
                    <a:pt x="22234" y="0"/>
                    <a:pt x="49660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54383" cy="883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847423" y="8440307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8032558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06705" y="-951058"/>
            <a:ext cx="3055198" cy="2027541"/>
          </a:xfrm>
          <a:custGeom>
            <a:avLst/>
            <a:gdLst/>
            <a:ahLst/>
            <a:cxnLst/>
            <a:rect r="r" b="b" t="t" l="l"/>
            <a:pathLst>
              <a:path h="2027541" w="3055198">
                <a:moveTo>
                  <a:pt x="0" y="0"/>
                </a:moveTo>
                <a:lnTo>
                  <a:pt x="3055198" y="0"/>
                </a:lnTo>
                <a:lnTo>
                  <a:pt x="3055198" y="2027541"/>
                </a:lnTo>
                <a:lnTo>
                  <a:pt x="0" y="2027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3302" y="5777424"/>
            <a:ext cx="5765589" cy="171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98"/>
              </a:lnSpc>
            </a:pPr>
            <a:r>
              <a:rPr lang="en-US" sz="6098" spc="-335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Architecture</a:t>
            </a:r>
          </a:p>
          <a:p>
            <a:pPr algn="l" marL="0" indent="0" lvl="0">
              <a:lnSpc>
                <a:spcPts val="6098"/>
              </a:lnSpc>
            </a:pPr>
            <a:r>
              <a:rPr lang="en-US" sz="6098" spc="-335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58570" y="2874711"/>
            <a:ext cx="4796077" cy="166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8"/>
              </a:lnSpc>
            </a:pPr>
            <a:r>
              <a:rPr lang="en-US" sz="137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API Gateway serves as the single entry point routing all client requests. Core services include Auth, Container, Manifest, Load Balancer, and Progress microservices — each built with Spring Boot. Netflix Eureka handles service discovery, while a centralized Config Server manages configuration across all services. PostgreSQL databases are isolated per service for clean separation of concerns.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8095" y="2000790"/>
            <a:ext cx="4085104" cy="8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Microservices Backend Structure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20291">
            <a:off x="-341804" y="-343516"/>
            <a:ext cx="19064493" cy="7244507"/>
          </a:xfrm>
          <a:custGeom>
            <a:avLst/>
            <a:gdLst/>
            <a:ahLst/>
            <a:cxnLst/>
            <a:rect r="r" b="b" t="t" l="l"/>
            <a:pathLst>
              <a:path h="7244507" w="19064493">
                <a:moveTo>
                  <a:pt x="0" y="0"/>
                </a:moveTo>
                <a:lnTo>
                  <a:pt x="19064493" y="0"/>
                </a:lnTo>
                <a:lnTo>
                  <a:pt x="19064493" y="7244508"/>
                </a:lnTo>
                <a:lnTo>
                  <a:pt x="0" y="724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61365" y="1207063"/>
            <a:ext cx="4938848" cy="3834328"/>
            <a:chOff x="0" y="0"/>
            <a:chExt cx="590355" cy="4583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0355" cy="458329"/>
            </a:xfrm>
            <a:custGeom>
              <a:avLst/>
              <a:gdLst/>
              <a:ahLst/>
              <a:cxnLst/>
              <a:rect r="r" b="b" t="t" l="l"/>
              <a:pathLst>
                <a:path h="458329" w="590355">
                  <a:moveTo>
                    <a:pt x="47027" y="0"/>
                  </a:moveTo>
                  <a:lnTo>
                    <a:pt x="543329" y="0"/>
                  </a:lnTo>
                  <a:cubicBezTo>
                    <a:pt x="569301" y="0"/>
                    <a:pt x="590355" y="21055"/>
                    <a:pt x="590355" y="47027"/>
                  </a:cubicBezTo>
                  <a:lnTo>
                    <a:pt x="590355" y="411302"/>
                  </a:lnTo>
                  <a:cubicBezTo>
                    <a:pt x="590355" y="437274"/>
                    <a:pt x="569301" y="458329"/>
                    <a:pt x="543329" y="458329"/>
                  </a:cubicBezTo>
                  <a:lnTo>
                    <a:pt x="47027" y="458329"/>
                  </a:lnTo>
                  <a:cubicBezTo>
                    <a:pt x="34554" y="458329"/>
                    <a:pt x="22593" y="453374"/>
                    <a:pt x="13774" y="444555"/>
                  </a:cubicBezTo>
                  <a:cubicBezTo>
                    <a:pt x="4955" y="435736"/>
                    <a:pt x="0" y="423774"/>
                    <a:pt x="0" y="411302"/>
                  </a:cubicBezTo>
                  <a:lnTo>
                    <a:pt x="0" y="47027"/>
                  </a:lnTo>
                  <a:cubicBezTo>
                    <a:pt x="0" y="21055"/>
                    <a:pt x="21055" y="0"/>
                    <a:pt x="47027" y="0"/>
                  </a:cubicBezTo>
                  <a:close/>
                </a:path>
              </a:pathLst>
            </a:custGeom>
            <a:blipFill>
              <a:blip r:embed="rId4"/>
              <a:stretch>
                <a:fillRect l="-7" t="0" r="-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74576" y="1207063"/>
            <a:ext cx="4938848" cy="3834328"/>
            <a:chOff x="0" y="0"/>
            <a:chExt cx="590355" cy="458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0355" cy="458329"/>
            </a:xfrm>
            <a:custGeom>
              <a:avLst/>
              <a:gdLst/>
              <a:ahLst/>
              <a:cxnLst/>
              <a:rect r="r" b="b" t="t" l="l"/>
              <a:pathLst>
                <a:path h="458329" w="590355">
                  <a:moveTo>
                    <a:pt x="47027" y="0"/>
                  </a:moveTo>
                  <a:lnTo>
                    <a:pt x="543329" y="0"/>
                  </a:lnTo>
                  <a:cubicBezTo>
                    <a:pt x="569301" y="0"/>
                    <a:pt x="590355" y="21055"/>
                    <a:pt x="590355" y="47027"/>
                  </a:cubicBezTo>
                  <a:lnTo>
                    <a:pt x="590355" y="411302"/>
                  </a:lnTo>
                  <a:cubicBezTo>
                    <a:pt x="590355" y="437274"/>
                    <a:pt x="569301" y="458329"/>
                    <a:pt x="543329" y="458329"/>
                  </a:cubicBezTo>
                  <a:lnTo>
                    <a:pt x="47027" y="458329"/>
                  </a:lnTo>
                  <a:cubicBezTo>
                    <a:pt x="34554" y="458329"/>
                    <a:pt x="22593" y="453374"/>
                    <a:pt x="13774" y="444555"/>
                  </a:cubicBezTo>
                  <a:cubicBezTo>
                    <a:pt x="4955" y="435736"/>
                    <a:pt x="0" y="423774"/>
                    <a:pt x="0" y="411302"/>
                  </a:cubicBezTo>
                  <a:lnTo>
                    <a:pt x="0" y="47027"/>
                  </a:lnTo>
                  <a:cubicBezTo>
                    <a:pt x="0" y="21055"/>
                    <a:pt x="21055" y="0"/>
                    <a:pt x="47027" y="0"/>
                  </a:cubicBezTo>
                  <a:close/>
                </a:path>
              </a:pathLst>
            </a:custGeom>
            <a:blipFill>
              <a:blip r:embed="rId5"/>
              <a:stretch>
                <a:fillRect l="-7" t="0" r="-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7787" y="1207063"/>
            <a:ext cx="4938848" cy="3834328"/>
            <a:chOff x="0" y="0"/>
            <a:chExt cx="590355" cy="4583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0355" cy="458329"/>
            </a:xfrm>
            <a:custGeom>
              <a:avLst/>
              <a:gdLst/>
              <a:ahLst/>
              <a:cxnLst/>
              <a:rect r="r" b="b" t="t" l="l"/>
              <a:pathLst>
                <a:path h="458329" w="590355">
                  <a:moveTo>
                    <a:pt x="47027" y="0"/>
                  </a:moveTo>
                  <a:lnTo>
                    <a:pt x="543329" y="0"/>
                  </a:lnTo>
                  <a:cubicBezTo>
                    <a:pt x="569301" y="0"/>
                    <a:pt x="590355" y="21055"/>
                    <a:pt x="590355" y="47027"/>
                  </a:cubicBezTo>
                  <a:lnTo>
                    <a:pt x="590355" y="411302"/>
                  </a:lnTo>
                  <a:cubicBezTo>
                    <a:pt x="590355" y="437274"/>
                    <a:pt x="569301" y="458329"/>
                    <a:pt x="543329" y="458329"/>
                  </a:cubicBezTo>
                  <a:lnTo>
                    <a:pt x="47027" y="458329"/>
                  </a:lnTo>
                  <a:cubicBezTo>
                    <a:pt x="34554" y="458329"/>
                    <a:pt x="22593" y="453374"/>
                    <a:pt x="13774" y="444555"/>
                  </a:cubicBezTo>
                  <a:cubicBezTo>
                    <a:pt x="4955" y="435736"/>
                    <a:pt x="0" y="423774"/>
                    <a:pt x="0" y="411302"/>
                  </a:cubicBezTo>
                  <a:lnTo>
                    <a:pt x="0" y="47027"/>
                  </a:lnTo>
                  <a:cubicBezTo>
                    <a:pt x="0" y="21055"/>
                    <a:pt x="21055" y="0"/>
                    <a:pt x="47027" y="0"/>
                  </a:cubicBezTo>
                  <a:close/>
                </a:path>
              </a:pathLst>
            </a:custGeom>
            <a:blipFill>
              <a:blip r:embed="rId6"/>
              <a:stretch>
                <a:fillRect l="-7" t="0" r="-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64617" y="6052944"/>
            <a:ext cx="6297107" cy="98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25"/>
              </a:lnSpc>
            </a:pPr>
            <a:r>
              <a:rPr lang="en-US" sz="6225" spc="-342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Target Audience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45475" y="5790247"/>
            <a:ext cx="5688490" cy="3169004"/>
            <a:chOff x="0" y="0"/>
            <a:chExt cx="1411989" cy="786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1989" cy="786606"/>
            </a:xfrm>
            <a:custGeom>
              <a:avLst/>
              <a:gdLst/>
              <a:ahLst/>
              <a:cxnLst/>
              <a:rect r="r" b="b" t="t" l="l"/>
              <a:pathLst>
                <a:path h="786606" w="1411989">
                  <a:moveTo>
                    <a:pt x="47634" y="0"/>
                  </a:moveTo>
                  <a:lnTo>
                    <a:pt x="1364355" y="0"/>
                  </a:lnTo>
                  <a:cubicBezTo>
                    <a:pt x="1390663" y="0"/>
                    <a:pt x="1411989" y="21327"/>
                    <a:pt x="1411989" y="47634"/>
                  </a:cubicBezTo>
                  <a:lnTo>
                    <a:pt x="1411989" y="738972"/>
                  </a:lnTo>
                  <a:cubicBezTo>
                    <a:pt x="1411989" y="765279"/>
                    <a:pt x="1390663" y="786606"/>
                    <a:pt x="1364355" y="786606"/>
                  </a:cubicBezTo>
                  <a:lnTo>
                    <a:pt x="47634" y="786606"/>
                  </a:lnTo>
                  <a:cubicBezTo>
                    <a:pt x="21327" y="786606"/>
                    <a:pt x="0" y="765279"/>
                    <a:pt x="0" y="738972"/>
                  </a:cubicBezTo>
                  <a:lnTo>
                    <a:pt x="0" y="47634"/>
                  </a:lnTo>
                  <a:cubicBezTo>
                    <a:pt x="0" y="21327"/>
                    <a:pt x="21327" y="0"/>
                    <a:pt x="47634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11989" cy="834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72986" y="6934959"/>
            <a:ext cx="4798625" cy="172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77"/>
              </a:lnSpc>
            </a:pPr>
            <a:r>
              <a:rPr lang="en-US" sz="1412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DevOps students learning Docker &amp; Kubernetes hands-on</a:t>
            </a:r>
          </a:p>
          <a:p>
            <a:pPr algn="l" marL="0" indent="0" lvl="0">
              <a:lnSpc>
                <a:spcPts val="1977"/>
              </a:lnSpc>
            </a:pPr>
            <a:r>
              <a:rPr lang="en-US" sz="1412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Career changers building practical cloud-native skills</a:t>
            </a:r>
          </a:p>
          <a:p>
            <a:pPr algn="l" marL="0" indent="0" lvl="0">
              <a:lnSpc>
                <a:spcPts val="1977"/>
              </a:lnSpc>
            </a:pPr>
            <a:r>
              <a:rPr lang="en-US" sz="1412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Bootcamp participants practicing infrastructure as code</a:t>
            </a:r>
          </a:p>
          <a:p>
            <a:pPr algn="l" marL="0" indent="0" lvl="0">
              <a:lnSpc>
                <a:spcPts val="1977"/>
              </a:lnSpc>
            </a:pPr>
            <a:r>
              <a:rPr lang="en-US" sz="1412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Self-learners exploring containerization without cloud costs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72986" y="6043419"/>
            <a:ext cx="337675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Who Benefits Most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255263" y="8743950"/>
            <a:ext cx="3086100" cy="3086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53001" y="8105142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603543" y="8674859"/>
            <a:ext cx="3080913" cy="2044606"/>
          </a:xfrm>
          <a:custGeom>
            <a:avLst/>
            <a:gdLst/>
            <a:ahLst/>
            <a:cxnLst/>
            <a:rect r="r" b="b" t="t" l="l"/>
            <a:pathLst>
              <a:path h="2044606" w="3080913">
                <a:moveTo>
                  <a:pt x="0" y="0"/>
                </a:moveTo>
                <a:lnTo>
                  <a:pt x="3080914" y="0"/>
                </a:lnTo>
                <a:lnTo>
                  <a:pt x="3080914" y="2044606"/>
                </a:lnTo>
                <a:lnTo>
                  <a:pt x="0" y="20446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3583875" y="2920374"/>
            <a:ext cx="10560375" cy="4012943"/>
          </a:xfrm>
          <a:custGeom>
            <a:avLst/>
            <a:gdLst/>
            <a:ahLst/>
            <a:cxnLst/>
            <a:rect r="r" b="b" t="t" l="l"/>
            <a:pathLst>
              <a:path h="4012943" w="10560375">
                <a:moveTo>
                  <a:pt x="0" y="0"/>
                </a:moveTo>
                <a:lnTo>
                  <a:pt x="10560376" y="0"/>
                </a:lnTo>
                <a:lnTo>
                  <a:pt x="10560376" y="4012942"/>
                </a:lnTo>
                <a:lnTo>
                  <a:pt x="0" y="4012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6313" y="1370047"/>
            <a:ext cx="4204886" cy="4128503"/>
            <a:chOff x="0" y="0"/>
            <a:chExt cx="787132" cy="7728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7132" cy="772834"/>
            </a:xfrm>
            <a:custGeom>
              <a:avLst/>
              <a:gdLst/>
              <a:ahLst/>
              <a:cxnLst/>
              <a:rect r="r" b="b" t="t" l="l"/>
              <a:pathLst>
                <a:path h="772834" w="787132">
                  <a:moveTo>
                    <a:pt x="64441" y="0"/>
                  </a:moveTo>
                  <a:lnTo>
                    <a:pt x="722691" y="0"/>
                  </a:lnTo>
                  <a:cubicBezTo>
                    <a:pt x="758281" y="0"/>
                    <a:pt x="787132" y="28851"/>
                    <a:pt x="787132" y="64441"/>
                  </a:cubicBezTo>
                  <a:lnTo>
                    <a:pt x="787132" y="708393"/>
                  </a:lnTo>
                  <a:cubicBezTo>
                    <a:pt x="787132" y="743982"/>
                    <a:pt x="758281" y="772834"/>
                    <a:pt x="722691" y="772834"/>
                  </a:cubicBezTo>
                  <a:lnTo>
                    <a:pt x="64441" y="772834"/>
                  </a:lnTo>
                  <a:cubicBezTo>
                    <a:pt x="47350" y="772834"/>
                    <a:pt x="30959" y="766044"/>
                    <a:pt x="18874" y="753959"/>
                  </a:cubicBezTo>
                  <a:cubicBezTo>
                    <a:pt x="6789" y="741874"/>
                    <a:pt x="0" y="725483"/>
                    <a:pt x="0" y="708393"/>
                  </a:cubicBezTo>
                  <a:lnTo>
                    <a:pt x="0" y="64441"/>
                  </a:lnTo>
                  <a:cubicBezTo>
                    <a:pt x="0" y="28851"/>
                    <a:pt x="28851" y="0"/>
                    <a:pt x="64441" y="0"/>
                  </a:cubicBezTo>
                  <a:close/>
                </a:path>
              </a:pathLst>
            </a:custGeom>
            <a:blipFill>
              <a:blip r:embed="rId4"/>
              <a:stretch>
                <a:fillRect l="-29" t="0" r="-2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17647" y="5731814"/>
            <a:ext cx="4983263" cy="3185140"/>
            <a:chOff x="0" y="0"/>
            <a:chExt cx="1209125" cy="772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9125" cy="772834"/>
            </a:xfrm>
            <a:custGeom>
              <a:avLst/>
              <a:gdLst/>
              <a:ahLst/>
              <a:cxnLst/>
              <a:rect r="r" b="b" t="t" l="l"/>
              <a:pathLst>
                <a:path h="772834" w="1209125">
                  <a:moveTo>
                    <a:pt x="54375" y="0"/>
                  </a:moveTo>
                  <a:lnTo>
                    <a:pt x="1154750" y="0"/>
                  </a:lnTo>
                  <a:cubicBezTo>
                    <a:pt x="1184781" y="0"/>
                    <a:pt x="1209125" y="24345"/>
                    <a:pt x="1209125" y="54375"/>
                  </a:cubicBezTo>
                  <a:lnTo>
                    <a:pt x="1209125" y="718458"/>
                  </a:lnTo>
                  <a:cubicBezTo>
                    <a:pt x="1209125" y="748489"/>
                    <a:pt x="1184781" y="772834"/>
                    <a:pt x="1154750" y="772834"/>
                  </a:cubicBezTo>
                  <a:lnTo>
                    <a:pt x="54375" y="772834"/>
                  </a:lnTo>
                  <a:cubicBezTo>
                    <a:pt x="24345" y="772834"/>
                    <a:pt x="0" y="748489"/>
                    <a:pt x="0" y="718458"/>
                  </a:cubicBezTo>
                  <a:lnTo>
                    <a:pt x="0" y="54375"/>
                  </a:lnTo>
                  <a:cubicBezTo>
                    <a:pt x="0" y="24345"/>
                    <a:pt x="24345" y="0"/>
                    <a:pt x="54375" y="0"/>
                  </a:cubicBezTo>
                  <a:close/>
                </a:path>
              </a:pathLst>
            </a:custGeom>
            <a:blipFill>
              <a:blip r:embed="rId5"/>
              <a:stretch>
                <a:fillRect l="-130" t="0" r="-1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183175" y="2642463"/>
            <a:ext cx="2908928" cy="2856087"/>
            <a:chOff x="0" y="0"/>
            <a:chExt cx="787132" cy="7728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7132" cy="772834"/>
            </a:xfrm>
            <a:custGeom>
              <a:avLst/>
              <a:gdLst/>
              <a:ahLst/>
              <a:cxnLst/>
              <a:rect r="r" b="b" t="t" l="l"/>
              <a:pathLst>
                <a:path h="772834" w="787132">
                  <a:moveTo>
                    <a:pt x="93150" y="0"/>
                  </a:moveTo>
                  <a:lnTo>
                    <a:pt x="693982" y="0"/>
                  </a:lnTo>
                  <a:cubicBezTo>
                    <a:pt x="745427" y="0"/>
                    <a:pt x="787132" y="41705"/>
                    <a:pt x="787132" y="93150"/>
                  </a:cubicBezTo>
                  <a:lnTo>
                    <a:pt x="787132" y="679683"/>
                  </a:lnTo>
                  <a:cubicBezTo>
                    <a:pt x="787132" y="731129"/>
                    <a:pt x="745427" y="772834"/>
                    <a:pt x="693982" y="772834"/>
                  </a:cubicBezTo>
                  <a:lnTo>
                    <a:pt x="93150" y="772834"/>
                  </a:lnTo>
                  <a:cubicBezTo>
                    <a:pt x="68445" y="772834"/>
                    <a:pt x="44752" y="763020"/>
                    <a:pt x="27283" y="745550"/>
                  </a:cubicBezTo>
                  <a:cubicBezTo>
                    <a:pt x="9814" y="728081"/>
                    <a:pt x="0" y="704388"/>
                    <a:pt x="0" y="679683"/>
                  </a:cubicBezTo>
                  <a:lnTo>
                    <a:pt x="0" y="93150"/>
                  </a:lnTo>
                  <a:cubicBezTo>
                    <a:pt x="0" y="41705"/>
                    <a:pt x="41705" y="0"/>
                    <a:pt x="93150" y="0"/>
                  </a:cubicBezTo>
                  <a:close/>
                </a:path>
              </a:pathLst>
            </a:custGeom>
            <a:blipFill>
              <a:blip r:embed="rId6"/>
              <a:stretch>
                <a:fillRect l="-29" t="0" r="-2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5532" y="5731814"/>
            <a:ext cx="2914962" cy="2678301"/>
            <a:chOff x="0" y="0"/>
            <a:chExt cx="841123" cy="772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1123" cy="772834"/>
            </a:xfrm>
            <a:custGeom>
              <a:avLst/>
              <a:gdLst/>
              <a:ahLst/>
              <a:cxnLst/>
              <a:rect r="r" b="b" t="t" l="l"/>
              <a:pathLst>
                <a:path h="772834" w="841123">
                  <a:moveTo>
                    <a:pt x="92957" y="0"/>
                  </a:moveTo>
                  <a:lnTo>
                    <a:pt x="748166" y="0"/>
                  </a:lnTo>
                  <a:cubicBezTo>
                    <a:pt x="799505" y="0"/>
                    <a:pt x="841123" y="41618"/>
                    <a:pt x="841123" y="92957"/>
                  </a:cubicBezTo>
                  <a:lnTo>
                    <a:pt x="841123" y="679876"/>
                  </a:lnTo>
                  <a:cubicBezTo>
                    <a:pt x="841123" y="731215"/>
                    <a:pt x="799505" y="772834"/>
                    <a:pt x="748166" y="772834"/>
                  </a:cubicBezTo>
                  <a:lnTo>
                    <a:pt x="92957" y="772834"/>
                  </a:lnTo>
                  <a:cubicBezTo>
                    <a:pt x="41618" y="772834"/>
                    <a:pt x="0" y="731215"/>
                    <a:pt x="0" y="679876"/>
                  </a:cubicBezTo>
                  <a:lnTo>
                    <a:pt x="0" y="92957"/>
                  </a:lnTo>
                  <a:cubicBezTo>
                    <a:pt x="0" y="41618"/>
                    <a:pt x="41618" y="0"/>
                    <a:pt x="92957" y="0"/>
                  </a:cubicBezTo>
                  <a:close/>
                </a:path>
              </a:pathLst>
            </a:custGeom>
            <a:blipFill>
              <a:blip r:embed="rId7"/>
              <a:stretch>
                <a:fillRect l="-3" t="0" r="-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27399" y="5239676"/>
            <a:ext cx="5114545" cy="2739238"/>
            <a:chOff x="0" y="0"/>
            <a:chExt cx="1269525" cy="6799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9525" cy="679930"/>
            </a:xfrm>
            <a:custGeom>
              <a:avLst/>
              <a:gdLst/>
              <a:ahLst/>
              <a:cxnLst/>
              <a:rect r="r" b="b" t="t" l="l"/>
              <a:pathLst>
                <a:path h="679930" w="1269525">
                  <a:moveTo>
                    <a:pt x="52980" y="0"/>
                  </a:moveTo>
                  <a:lnTo>
                    <a:pt x="1216546" y="0"/>
                  </a:lnTo>
                  <a:cubicBezTo>
                    <a:pt x="1230597" y="0"/>
                    <a:pt x="1244072" y="5582"/>
                    <a:pt x="1254008" y="15517"/>
                  </a:cubicBezTo>
                  <a:cubicBezTo>
                    <a:pt x="1263944" y="25453"/>
                    <a:pt x="1269525" y="38929"/>
                    <a:pt x="1269525" y="52980"/>
                  </a:cubicBezTo>
                  <a:lnTo>
                    <a:pt x="1269525" y="626950"/>
                  </a:lnTo>
                  <a:cubicBezTo>
                    <a:pt x="1269525" y="656210"/>
                    <a:pt x="1245805" y="679930"/>
                    <a:pt x="1216546" y="679930"/>
                  </a:cubicBezTo>
                  <a:lnTo>
                    <a:pt x="52980" y="679930"/>
                  </a:lnTo>
                  <a:cubicBezTo>
                    <a:pt x="23720" y="679930"/>
                    <a:pt x="0" y="656210"/>
                    <a:pt x="0" y="626950"/>
                  </a:cubicBezTo>
                  <a:lnTo>
                    <a:pt x="0" y="52980"/>
                  </a:lnTo>
                  <a:cubicBezTo>
                    <a:pt x="0" y="23720"/>
                    <a:pt x="23720" y="0"/>
                    <a:pt x="52980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69525" cy="727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60507" y="3022635"/>
            <a:ext cx="6254881" cy="191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Educational</a:t>
            </a:r>
          </a:p>
          <a:p>
            <a:pPr algn="l" marL="0" indent="0" lvl="0">
              <a:lnSpc>
                <a:spcPts val="6795"/>
              </a:lnSpc>
            </a:pPr>
            <a:r>
              <a:rPr lang="en-US" sz="6795" spc="-373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Value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60507" y="2255748"/>
            <a:ext cx="4361213" cy="31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4"/>
              </a:lnSpc>
            </a:pPr>
            <a:r>
              <a:rPr lang="en-US" b="true" sz="1895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Learning Outcomes &amp; Skills Gained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61847" y="5553289"/>
            <a:ext cx="4780097" cy="20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3"/>
              </a:lnSpc>
            </a:pPr>
            <a:r>
              <a:rPr lang="en-US" sz="16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Docker fundamentals: image management &amp; container lifecycle</a:t>
            </a:r>
          </a:p>
          <a:p>
            <a:pPr algn="l" marL="0" indent="0" lvl="0">
              <a:lnSpc>
                <a:spcPts val="2343"/>
              </a:lnSpc>
            </a:pPr>
            <a:r>
              <a:rPr lang="en-US" sz="16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Kubernetes: pods, deployments &amp; manifests</a:t>
            </a:r>
          </a:p>
          <a:p>
            <a:pPr algn="l" marL="0" indent="0" lvl="0">
              <a:lnSpc>
                <a:spcPts val="2343"/>
              </a:lnSpc>
            </a:pPr>
            <a:r>
              <a:rPr lang="en-US" sz="16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Load balancing principles &amp; traffic distribution</a:t>
            </a:r>
          </a:p>
          <a:p>
            <a:pPr algn="l" marL="0" indent="0" lvl="0">
              <a:lnSpc>
                <a:spcPts val="2343"/>
              </a:lnSpc>
            </a:pPr>
            <a:r>
              <a:rPr lang="en-US" sz="16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Infrastructure as Code via YAML validation</a:t>
            </a:r>
          </a:p>
          <a:p>
            <a:pPr algn="l" marL="0" indent="0" lvl="0">
              <a:lnSpc>
                <a:spcPts val="2343"/>
              </a:lnSpc>
            </a:pPr>
            <a:r>
              <a:rPr lang="en-US" sz="167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• Cloud-native patterns: microservices, service discovery &amp; API gateways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598303" y="0"/>
            <a:ext cx="3086100" cy="30861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786687" y="934245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151895" y="8283714"/>
            <a:ext cx="4482890" cy="2975009"/>
          </a:xfrm>
          <a:custGeom>
            <a:avLst/>
            <a:gdLst/>
            <a:ahLst/>
            <a:cxnLst/>
            <a:rect r="r" b="b" t="t" l="l"/>
            <a:pathLst>
              <a:path h="2975009" w="4482890">
                <a:moveTo>
                  <a:pt x="0" y="0"/>
                </a:moveTo>
                <a:lnTo>
                  <a:pt x="4482891" y="0"/>
                </a:lnTo>
                <a:lnTo>
                  <a:pt x="4482891" y="2975009"/>
                </a:lnTo>
                <a:lnTo>
                  <a:pt x="0" y="2975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02952">
            <a:off x="8937887" y="3103693"/>
            <a:ext cx="14172533" cy="5385562"/>
          </a:xfrm>
          <a:custGeom>
            <a:avLst/>
            <a:gdLst/>
            <a:ahLst/>
            <a:cxnLst/>
            <a:rect r="r" b="b" t="t" l="l"/>
            <a:pathLst>
              <a:path h="5385562" w="14172533">
                <a:moveTo>
                  <a:pt x="0" y="0"/>
                </a:moveTo>
                <a:lnTo>
                  <a:pt x="14172533" y="0"/>
                </a:lnTo>
                <a:lnTo>
                  <a:pt x="14172533" y="5385563"/>
                </a:lnTo>
                <a:lnTo>
                  <a:pt x="0" y="5385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56979" y="5353054"/>
            <a:ext cx="4809848" cy="3533613"/>
            <a:chOff x="0" y="0"/>
            <a:chExt cx="745171" cy="5474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5171" cy="547449"/>
            </a:xfrm>
            <a:custGeom>
              <a:avLst/>
              <a:gdLst/>
              <a:ahLst/>
              <a:cxnLst/>
              <a:rect r="r" b="b" t="t" l="l"/>
              <a:pathLst>
                <a:path h="547449" w="745171">
                  <a:moveTo>
                    <a:pt x="56336" y="0"/>
                  </a:moveTo>
                  <a:lnTo>
                    <a:pt x="688835" y="0"/>
                  </a:lnTo>
                  <a:cubicBezTo>
                    <a:pt x="703777" y="0"/>
                    <a:pt x="718106" y="5935"/>
                    <a:pt x="728671" y="16500"/>
                  </a:cubicBezTo>
                  <a:cubicBezTo>
                    <a:pt x="739236" y="27065"/>
                    <a:pt x="745171" y="41395"/>
                    <a:pt x="745171" y="56336"/>
                  </a:cubicBezTo>
                  <a:lnTo>
                    <a:pt x="745171" y="491113"/>
                  </a:lnTo>
                  <a:cubicBezTo>
                    <a:pt x="745171" y="506054"/>
                    <a:pt x="739236" y="520384"/>
                    <a:pt x="728671" y="530949"/>
                  </a:cubicBezTo>
                  <a:cubicBezTo>
                    <a:pt x="718106" y="541514"/>
                    <a:pt x="703777" y="547449"/>
                    <a:pt x="688835" y="547449"/>
                  </a:cubicBezTo>
                  <a:lnTo>
                    <a:pt x="56336" y="547449"/>
                  </a:lnTo>
                  <a:cubicBezTo>
                    <a:pt x="41395" y="547449"/>
                    <a:pt x="27065" y="541514"/>
                    <a:pt x="16500" y="530949"/>
                  </a:cubicBezTo>
                  <a:cubicBezTo>
                    <a:pt x="5935" y="520384"/>
                    <a:pt x="0" y="506054"/>
                    <a:pt x="0" y="491113"/>
                  </a:cubicBezTo>
                  <a:lnTo>
                    <a:pt x="0" y="56336"/>
                  </a:lnTo>
                  <a:cubicBezTo>
                    <a:pt x="0" y="41395"/>
                    <a:pt x="5935" y="27065"/>
                    <a:pt x="16500" y="16500"/>
                  </a:cubicBezTo>
                  <a:cubicBezTo>
                    <a:pt x="27065" y="5935"/>
                    <a:pt x="41395" y="0"/>
                    <a:pt x="56336" y="0"/>
                  </a:cubicBezTo>
                  <a:close/>
                </a:path>
              </a:pathLst>
            </a:custGeom>
            <a:blipFill>
              <a:blip r:embed="rId4"/>
              <a:stretch>
                <a:fillRect l="-62" t="0" r="-6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21173" y="1400333"/>
            <a:ext cx="4809848" cy="3214278"/>
            <a:chOff x="0" y="0"/>
            <a:chExt cx="745171" cy="497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171" cy="497976"/>
            </a:xfrm>
            <a:custGeom>
              <a:avLst/>
              <a:gdLst/>
              <a:ahLst/>
              <a:cxnLst/>
              <a:rect r="r" b="b" t="t" l="l"/>
              <a:pathLst>
                <a:path h="497976" w="745171">
                  <a:moveTo>
                    <a:pt x="56336" y="0"/>
                  </a:moveTo>
                  <a:lnTo>
                    <a:pt x="688835" y="0"/>
                  </a:lnTo>
                  <a:cubicBezTo>
                    <a:pt x="703777" y="0"/>
                    <a:pt x="718106" y="5935"/>
                    <a:pt x="728671" y="16500"/>
                  </a:cubicBezTo>
                  <a:cubicBezTo>
                    <a:pt x="739236" y="27065"/>
                    <a:pt x="745171" y="41395"/>
                    <a:pt x="745171" y="56336"/>
                  </a:cubicBezTo>
                  <a:lnTo>
                    <a:pt x="745171" y="441640"/>
                  </a:lnTo>
                  <a:cubicBezTo>
                    <a:pt x="745171" y="456581"/>
                    <a:pt x="739236" y="470910"/>
                    <a:pt x="728671" y="481475"/>
                  </a:cubicBezTo>
                  <a:cubicBezTo>
                    <a:pt x="718106" y="492040"/>
                    <a:pt x="703777" y="497976"/>
                    <a:pt x="688835" y="497976"/>
                  </a:cubicBezTo>
                  <a:lnTo>
                    <a:pt x="56336" y="497976"/>
                  </a:lnTo>
                  <a:cubicBezTo>
                    <a:pt x="41395" y="497976"/>
                    <a:pt x="27065" y="492040"/>
                    <a:pt x="16500" y="481475"/>
                  </a:cubicBezTo>
                  <a:cubicBezTo>
                    <a:pt x="5935" y="470910"/>
                    <a:pt x="0" y="456581"/>
                    <a:pt x="0" y="441640"/>
                  </a:cubicBezTo>
                  <a:lnTo>
                    <a:pt x="0" y="56336"/>
                  </a:lnTo>
                  <a:cubicBezTo>
                    <a:pt x="0" y="41395"/>
                    <a:pt x="5935" y="27065"/>
                    <a:pt x="16500" y="16500"/>
                  </a:cubicBezTo>
                  <a:cubicBezTo>
                    <a:pt x="27065" y="5935"/>
                    <a:pt x="41395" y="0"/>
                    <a:pt x="5633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10" r="0" b="-40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79775" y="1400333"/>
            <a:ext cx="4528451" cy="7486334"/>
            <a:chOff x="0" y="0"/>
            <a:chExt cx="701575" cy="11598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1575" cy="1159829"/>
            </a:xfrm>
            <a:custGeom>
              <a:avLst/>
              <a:gdLst/>
              <a:ahLst/>
              <a:cxnLst/>
              <a:rect r="r" b="b" t="t" l="l"/>
              <a:pathLst>
                <a:path h="1159829" w="701575">
                  <a:moveTo>
                    <a:pt x="59837" y="0"/>
                  </a:moveTo>
                  <a:lnTo>
                    <a:pt x="641739" y="0"/>
                  </a:lnTo>
                  <a:cubicBezTo>
                    <a:pt x="657609" y="0"/>
                    <a:pt x="672828" y="6304"/>
                    <a:pt x="684050" y="17526"/>
                  </a:cubicBezTo>
                  <a:cubicBezTo>
                    <a:pt x="695271" y="28747"/>
                    <a:pt x="701575" y="43967"/>
                    <a:pt x="701575" y="59837"/>
                  </a:cubicBezTo>
                  <a:lnTo>
                    <a:pt x="701575" y="1099992"/>
                  </a:lnTo>
                  <a:cubicBezTo>
                    <a:pt x="701575" y="1115862"/>
                    <a:pt x="695271" y="1131082"/>
                    <a:pt x="684050" y="1142303"/>
                  </a:cubicBezTo>
                  <a:cubicBezTo>
                    <a:pt x="672828" y="1153525"/>
                    <a:pt x="657609" y="1159829"/>
                    <a:pt x="641739" y="1159829"/>
                  </a:cubicBezTo>
                  <a:lnTo>
                    <a:pt x="59837" y="1159829"/>
                  </a:lnTo>
                  <a:cubicBezTo>
                    <a:pt x="43967" y="1159829"/>
                    <a:pt x="28747" y="1153525"/>
                    <a:pt x="17526" y="1142303"/>
                  </a:cubicBezTo>
                  <a:cubicBezTo>
                    <a:pt x="6304" y="1131082"/>
                    <a:pt x="0" y="1115862"/>
                    <a:pt x="0" y="1099992"/>
                  </a:cubicBezTo>
                  <a:lnTo>
                    <a:pt x="0" y="59837"/>
                  </a:lnTo>
                  <a:cubicBezTo>
                    <a:pt x="0" y="43967"/>
                    <a:pt x="6304" y="28747"/>
                    <a:pt x="17526" y="17526"/>
                  </a:cubicBezTo>
                  <a:cubicBezTo>
                    <a:pt x="28747" y="6304"/>
                    <a:pt x="43967" y="0"/>
                    <a:pt x="59837" y="0"/>
                  </a:cubicBezTo>
                  <a:close/>
                </a:path>
              </a:pathLst>
            </a:custGeom>
            <a:blipFill>
              <a:blip r:embed="rId6"/>
              <a:stretch>
                <a:fillRect l="-278" t="0" r="-2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197749" y="1663937"/>
            <a:ext cx="5456410" cy="3367867"/>
            <a:chOff x="0" y="0"/>
            <a:chExt cx="1354383" cy="8359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4383" cy="835967"/>
            </a:xfrm>
            <a:custGeom>
              <a:avLst/>
              <a:gdLst/>
              <a:ahLst/>
              <a:cxnLst/>
              <a:rect r="r" b="b" t="t" l="l"/>
              <a:pathLst>
                <a:path h="835967" w="1354383">
                  <a:moveTo>
                    <a:pt x="49660" y="0"/>
                  </a:moveTo>
                  <a:lnTo>
                    <a:pt x="1304722" y="0"/>
                  </a:lnTo>
                  <a:cubicBezTo>
                    <a:pt x="1317893" y="0"/>
                    <a:pt x="1330524" y="5232"/>
                    <a:pt x="1339837" y="14545"/>
                  </a:cubicBezTo>
                  <a:cubicBezTo>
                    <a:pt x="1349150" y="23858"/>
                    <a:pt x="1354383" y="36490"/>
                    <a:pt x="1354383" y="49660"/>
                  </a:cubicBezTo>
                  <a:lnTo>
                    <a:pt x="1354383" y="786307"/>
                  </a:lnTo>
                  <a:cubicBezTo>
                    <a:pt x="1354383" y="813734"/>
                    <a:pt x="1332149" y="835967"/>
                    <a:pt x="1304722" y="835967"/>
                  </a:cubicBezTo>
                  <a:lnTo>
                    <a:pt x="49660" y="835967"/>
                  </a:lnTo>
                  <a:cubicBezTo>
                    <a:pt x="36490" y="835967"/>
                    <a:pt x="23858" y="830735"/>
                    <a:pt x="14545" y="821422"/>
                  </a:cubicBezTo>
                  <a:cubicBezTo>
                    <a:pt x="5232" y="812109"/>
                    <a:pt x="0" y="799478"/>
                    <a:pt x="0" y="786307"/>
                  </a:cubicBezTo>
                  <a:lnTo>
                    <a:pt x="0" y="49660"/>
                  </a:lnTo>
                  <a:cubicBezTo>
                    <a:pt x="0" y="22234"/>
                    <a:pt x="22234" y="0"/>
                    <a:pt x="49660" y="0"/>
                  </a:cubicBezTo>
                  <a:close/>
                </a:path>
              </a:pathLst>
            </a:custGeom>
            <a:solidFill>
              <a:srgbClr val="4F88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54383" cy="883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847423" y="8440307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8032558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8"/>
                </a:lnTo>
                <a:lnTo>
                  <a:pt x="0" y="1708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06705" y="-951058"/>
            <a:ext cx="3055198" cy="2027541"/>
          </a:xfrm>
          <a:custGeom>
            <a:avLst/>
            <a:gdLst/>
            <a:ahLst/>
            <a:cxnLst/>
            <a:rect r="r" b="b" t="t" l="l"/>
            <a:pathLst>
              <a:path h="2027541" w="3055198">
                <a:moveTo>
                  <a:pt x="0" y="0"/>
                </a:moveTo>
                <a:lnTo>
                  <a:pt x="3055198" y="0"/>
                </a:lnTo>
                <a:lnTo>
                  <a:pt x="3055198" y="2027541"/>
                </a:lnTo>
                <a:lnTo>
                  <a:pt x="0" y="2027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3302" y="5758374"/>
            <a:ext cx="5765589" cy="148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36"/>
              </a:lnSpc>
            </a:pPr>
            <a:r>
              <a:rPr lang="en-US" sz="5236" spc="-287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Deployment &amp; Technology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58570" y="2874711"/>
            <a:ext cx="4796077" cy="15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3"/>
              </a:lnSpc>
            </a:pPr>
            <a:r>
              <a:rPr lang="en-US" sz="1537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Backend microservices deployed on Render.com for scalable cloud hosting. PostgreSQL databases provisioned and managed via Aiven cloud database platform. React frontend hosted on Vercel with CI/CD pipeline integration. Email notifications and password resets powered by Brevo SMTP service.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8095" y="2000790"/>
            <a:ext cx="4085104" cy="8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Platform Hosting &amp;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866556"/>
            <a:ext cx="16230600" cy="6394830"/>
            <a:chOff x="0" y="0"/>
            <a:chExt cx="2750634" cy="1083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50633" cy="1083745"/>
            </a:xfrm>
            <a:custGeom>
              <a:avLst/>
              <a:gdLst/>
              <a:ahLst/>
              <a:cxnLst/>
              <a:rect r="r" b="b" t="t" l="l"/>
              <a:pathLst>
                <a:path h="1083745" w="2750633">
                  <a:moveTo>
                    <a:pt x="24804" y="0"/>
                  </a:moveTo>
                  <a:lnTo>
                    <a:pt x="2725830" y="0"/>
                  </a:lnTo>
                  <a:cubicBezTo>
                    <a:pt x="2732408" y="0"/>
                    <a:pt x="2738717" y="2613"/>
                    <a:pt x="2743369" y="7265"/>
                  </a:cubicBezTo>
                  <a:cubicBezTo>
                    <a:pt x="2748020" y="11916"/>
                    <a:pt x="2750633" y="18225"/>
                    <a:pt x="2750633" y="24804"/>
                  </a:cubicBezTo>
                  <a:lnTo>
                    <a:pt x="2750633" y="1058941"/>
                  </a:lnTo>
                  <a:cubicBezTo>
                    <a:pt x="2750633" y="1072640"/>
                    <a:pt x="2739529" y="1083745"/>
                    <a:pt x="2725830" y="1083745"/>
                  </a:cubicBezTo>
                  <a:lnTo>
                    <a:pt x="24804" y="1083745"/>
                  </a:lnTo>
                  <a:cubicBezTo>
                    <a:pt x="18225" y="1083745"/>
                    <a:pt x="11916" y="1081132"/>
                    <a:pt x="7265" y="1076480"/>
                  </a:cubicBezTo>
                  <a:cubicBezTo>
                    <a:pt x="2613" y="1071829"/>
                    <a:pt x="0" y="1065520"/>
                    <a:pt x="0" y="1058941"/>
                  </a:cubicBezTo>
                  <a:lnTo>
                    <a:pt x="0" y="24804"/>
                  </a:lnTo>
                  <a:cubicBezTo>
                    <a:pt x="0" y="18225"/>
                    <a:pt x="2613" y="11916"/>
                    <a:pt x="7265" y="7265"/>
                  </a:cubicBezTo>
                  <a:cubicBezTo>
                    <a:pt x="11916" y="2613"/>
                    <a:pt x="18225" y="0"/>
                    <a:pt x="2480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61" r="0" b="-76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18437" y="8517315"/>
            <a:ext cx="358361" cy="346633"/>
          </a:xfrm>
          <a:custGeom>
            <a:avLst/>
            <a:gdLst/>
            <a:ahLst/>
            <a:cxnLst/>
            <a:rect r="r" b="b" t="t" l="l"/>
            <a:pathLst>
              <a:path h="346633" w="358361">
                <a:moveTo>
                  <a:pt x="0" y="0"/>
                </a:moveTo>
                <a:lnTo>
                  <a:pt x="358361" y="0"/>
                </a:lnTo>
                <a:lnTo>
                  <a:pt x="358361" y="346633"/>
                </a:lnTo>
                <a:lnTo>
                  <a:pt x="0" y="3466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46975" y="8478274"/>
            <a:ext cx="232747" cy="328234"/>
          </a:xfrm>
          <a:custGeom>
            <a:avLst/>
            <a:gdLst/>
            <a:ahLst/>
            <a:cxnLst/>
            <a:rect r="r" b="b" t="t" l="l"/>
            <a:pathLst>
              <a:path h="328234" w="232747">
                <a:moveTo>
                  <a:pt x="0" y="0"/>
                </a:moveTo>
                <a:lnTo>
                  <a:pt x="232748" y="0"/>
                </a:lnTo>
                <a:lnTo>
                  <a:pt x="232748" y="328234"/>
                </a:lnTo>
                <a:lnTo>
                  <a:pt x="0" y="3282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13085" y="8573251"/>
            <a:ext cx="233257" cy="233257"/>
          </a:xfrm>
          <a:custGeom>
            <a:avLst/>
            <a:gdLst/>
            <a:ahLst/>
            <a:cxnLst/>
            <a:rect r="r" b="b" t="t" l="l"/>
            <a:pathLst>
              <a:path h="233257" w="233257">
                <a:moveTo>
                  <a:pt x="0" y="0"/>
                </a:moveTo>
                <a:lnTo>
                  <a:pt x="233257" y="0"/>
                </a:lnTo>
                <a:lnTo>
                  <a:pt x="233257" y="233257"/>
                </a:lnTo>
                <a:lnTo>
                  <a:pt x="0" y="233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66093" y="6247627"/>
            <a:ext cx="9822518" cy="169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6"/>
              </a:lnSpc>
            </a:pPr>
            <a:r>
              <a:rPr lang="en-US" sz="5976" spc="-328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for Your Attention!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0806" y="8488740"/>
            <a:ext cx="371875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github.com/kingz1127/DevOps-CloudSandBox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6342" y="8482986"/>
            <a:ext cx="249665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Questions &amp; Feedback Welcome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54859" y="8451097"/>
            <a:ext cx="4433562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Oshunyingbo Adedeji | July 29 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903919" y="8190081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8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464621" y="7774688"/>
            <a:ext cx="1623232" cy="1708218"/>
          </a:xfrm>
          <a:custGeom>
            <a:avLst/>
            <a:gdLst/>
            <a:ahLst/>
            <a:cxnLst/>
            <a:rect r="r" b="b" t="t" l="l"/>
            <a:pathLst>
              <a:path h="1708218" w="1623232">
                <a:moveTo>
                  <a:pt x="0" y="0"/>
                </a:moveTo>
                <a:lnTo>
                  <a:pt x="1623232" y="0"/>
                </a:lnTo>
                <a:lnTo>
                  <a:pt x="1623232" y="1708217"/>
                </a:lnTo>
                <a:lnTo>
                  <a:pt x="0" y="17082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418437" y="6169725"/>
            <a:ext cx="4836873" cy="3209925"/>
          </a:xfrm>
          <a:custGeom>
            <a:avLst/>
            <a:gdLst/>
            <a:ahLst/>
            <a:cxnLst/>
            <a:rect r="r" b="b" t="t" l="l"/>
            <a:pathLst>
              <a:path h="3209925" w="4836873">
                <a:moveTo>
                  <a:pt x="0" y="0"/>
                </a:moveTo>
                <a:lnTo>
                  <a:pt x="4836874" y="0"/>
                </a:lnTo>
                <a:lnTo>
                  <a:pt x="4836874" y="3209925"/>
                </a:lnTo>
                <a:lnTo>
                  <a:pt x="0" y="3209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DAHQGGz81BI</dc:identifier>
  <dcterms:modified xsi:type="dcterms:W3CDTF">2011-08-01T06:04:30Z</dcterms:modified>
  <cp:revision>1</cp:revision>
  <dc:title>DevOps CloudSandbox: Enterprise DevOps Simulator</dc:title>
</cp:coreProperties>
</file>